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0B981"/>
                </a:solidFill>
              </a:defRPr>
            </a:pPr>
            <a:r>
              <a:t>CICADOS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F8FAFC"/>
                </a:solidFill>
              </a:defRPr>
            </a:pPr>
            <a:r>
              <a:t>Plateforme de Réservation &amp; de Gestion pour Bar à Jeux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Soutenance Orale Complète (30 Slides - 30 Minutes) | Titre Professionnel DWWM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SOMMAIRE DE LA PRÉSENTATION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Parties 1 &amp; 2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01. Introduction : Parcours &amp; Genèse (Slides 3-6)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02. Conception &amp; Maquettage UX/UI (Slides 7-10)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03. Modélisation de la Base de Données (Slides 11-12)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6366F1"/>
                </a:solidFill>
                <a:latin typeface="Calibri"/>
              </a:defRPr>
            </a:pPr>
            <a:r>
              <a:t>Parties 3, 4 &amp; 5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04. Développement : 3 Fonctionnalités Clés (Slides 13-21)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05. Points Techniques : Architecture &amp; Sécurité (Slides 22-26)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06. Conclusion &amp; Perspectives (Slides 27-30)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01. INTRODUCTION — MON PARCOURS PROFESSIONNEL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💼 Expérience Restauration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Rôle : </a:t>
            </a:r>
            <a:r>
              <a:rPr>
                <a:solidFill>
                  <a:srgbClr val="94A3B8"/>
                </a:solidFill>
              </a:rPr>
              <a:t>Directeur et propriétaire d'établissement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Compétences clés : </a:t>
            </a:r>
            <a:r>
              <a:rPr>
                <a:solidFill>
                  <a:srgbClr val="94A3B8"/>
                </a:solidFill>
              </a:rPr>
              <a:t>Gestion d'équipe, relation client, résolution de problèmes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Adaptabilité : </a:t>
            </a:r>
            <a:r>
              <a:rPr>
                <a:solidFill>
                  <a:srgbClr val="94A3B8"/>
                </a:solidFill>
              </a:rPr>
              <a:t>Gestion du stress dans des environnements exigeants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💻 Reconversion Web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Le Déclic : </a:t>
            </a:r>
            <a:r>
              <a:rPr>
                <a:solidFill>
                  <a:srgbClr val="94A3B8"/>
                </a:solidFill>
              </a:rPr>
              <a:t>Découverte de la logique informatique pendant la crise sanitaire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Objectif : </a:t>
            </a:r>
            <a:r>
              <a:rPr>
                <a:solidFill>
                  <a:srgbClr val="94A3B8"/>
                </a:solidFill>
              </a:rPr>
              <a:t>Allier rigueur de conception et interfaces utilisateur interactives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Formation : </a:t>
            </a:r>
            <a:r>
              <a:rPr>
                <a:solidFill>
                  <a:srgbClr val="94A3B8"/>
                </a:solidFill>
              </a:rPr>
              <a:t>Cursus intensif Développeur Web chez O'Clock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01. INTRODUCTION — LE CONTEXTE DU PROJET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🎲 L'Événementiel Ludique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Secteur : </a:t>
            </a:r>
            <a:r>
              <a:rPr>
                <a:solidFill>
                  <a:srgbClr val="94A3B8"/>
                </a:solidFill>
              </a:rPr>
              <a:t>Bars à jeux de société en forte expansion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Spécificité : </a:t>
            </a:r>
            <a:r>
              <a:rPr>
                <a:solidFill>
                  <a:srgbClr val="94A3B8"/>
                </a:solidFill>
              </a:rPr>
              <a:t>Lieux hybrides mêlant consommation et pratique ludique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Public ciblé : </a:t>
            </a:r>
            <a:r>
              <a:rPr>
                <a:solidFill>
                  <a:srgbClr val="94A3B8"/>
                </a:solidFill>
              </a:rPr>
              <a:t>Joueurs occasionnels et passionnés de jeux de société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⚙️ Gestion Quotidienne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Complexité : </a:t>
            </a:r>
            <a:r>
              <a:rPr>
                <a:solidFill>
                  <a:srgbClr val="94A3B8"/>
                </a:solidFill>
              </a:rPr>
              <a:t>Rotation rapide des tables selon les soirées thématiques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Logistique : </a:t>
            </a:r>
            <a:r>
              <a:rPr>
                <a:solidFill>
                  <a:srgbClr val="94A3B8"/>
                </a:solidFill>
              </a:rPr>
              <a:t>Nécessité d'adapter les tables au nombre de joueurs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Découverte : </a:t>
            </a:r>
            <a:r>
              <a:rPr>
                <a:solidFill>
                  <a:srgbClr val="94A3B8"/>
                </a:solidFill>
              </a:rPr>
              <a:t>Besoin d'accompagner le client dans le choix de jeux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01. INTRODUCTION — LA PROBLÉMATIQUE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🛑 Limites du Modèle Actuel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Réservations : </a:t>
            </a:r>
            <a:r>
              <a:rPr>
                <a:solidFill>
                  <a:srgbClr val="94A3B8"/>
                </a:solidFill>
              </a:rPr>
              <a:t>Saisie par téléphone ou papier, source d'erreurs fréquentes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Doublons : </a:t>
            </a:r>
            <a:r>
              <a:rPr>
                <a:solidFill>
                  <a:srgbClr val="94A3B8"/>
                </a:solidFill>
              </a:rPr>
              <a:t>Risque de sur-réservation pendant les heures de pointe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Frustration : </a:t>
            </a:r>
            <a:r>
              <a:rPr>
                <a:solidFill>
                  <a:srgbClr val="94A3B8"/>
                </a:solidFill>
              </a:rPr>
              <a:t>Clients arrivant sans table disponible garantie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🎯 Attentes Clients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Autonomie : </a:t>
            </a:r>
            <a:r>
              <a:rPr>
                <a:solidFill>
                  <a:srgbClr val="94A3B8"/>
                </a:solidFill>
              </a:rPr>
              <a:t>Pouvoir réserver en ligne 24h/24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Visibilité : </a:t>
            </a:r>
            <a:r>
              <a:rPr>
                <a:solidFill>
                  <a:srgbClr val="94A3B8"/>
                </a:solidFill>
              </a:rPr>
              <a:t>Consulter le catalogue des jeux de société à l'avance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Simplicité : </a:t>
            </a:r>
            <a:r>
              <a:rPr>
                <a:solidFill>
                  <a:srgbClr val="94A3B8"/>
                </a:solidFill>
              </a:rPr>
              <a:t>Obtenir une confirmation instantanée de leur créneau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01. INTRODUCTION — LA SOLUTION PROPOSÉE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⚡ L'Application Cicados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Concept : </a:t>
            </a:r>
            <a:r>
              <a:rPr>
                <a:solidFill>
                  <a:srgbClr val="94A3B8"/>
                </a:solidFill>
              </a:rPr>
              <a:t>Plateforme web responsive de réservation et d'exploration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Espace Joueur : </a:t>
            </a:r>
            <a:r>
              <a:rPr>
                <a:solidFill>
                  <a:srgbClr val="94A3B8"/>
                </a:solidFill>
              </a:rPr>
              <a:t>Réservation d'une table et filtrage du catalogue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Espace Admin : </a:t>
            </a:r>
            <a:r>
              <a:rPr>
                <a:solidFill>
                  <a:srgbClr val="94A3B8"/>
                </a:solidFill>
              </a:rPr>
              <a:t>Gestion du planning des tables et édition du catalogue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6366F1"/>
                </a:solidFill>
                <a:latin typeface="Calibri"/>
              </a:defRPr>
            </a:pPr>
            <a:r>
              <a:t>🛠️ Orientations Techniques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Frontend : </a:t>
            </a:r>
            <a:r>
              <a:rPr>
                <a:solidFill>
                  <a:srgbClr val="94A3B8"/>
                </a:solidFill>
              </a:rPr>
              <a:t>React 19 pour une interface réactive et moderne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Backend : </a:t>
            </a:r>
            <a:r>
              <a:rPr>
                <a:solidFill>
                  <a:srgbClr val="94A3B8"/>
                </a:solidFill>
              </a:rPr>
              <a:t>Express 5 assurant une API REST robuste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Données : </a:t>
            </a:r>
            <a:r>
              <a:rPr>
                <a:solidFill>
                  <a:srgbClr val="94A3B8"/>
                </a:solidFill>
              </a:rPr>
              <a:t>Base relationnelle MySQL 8 pour l'intégrité des créneaux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MÉTHODOLOGIE AGILE &amp; SCRUM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📅 Organisation en Sprints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Durée : </a:t>
            </a:r>
            <a:r>
              <a:rPr>
                <a:solidFill>
                  <a:srgbClr val="94A3B8"/>
                </a:solidFill>
              </a:rPr>
              <a:t>Découpage du projet en sprints réguliers de 2 semaines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Rituels : </a:t>
            </a:r>
            <a:r>
              <a:rPr>
                <a:solidFill>
                  <a:srgbClr val="94A3B8"/>
                </a:solidFill>
              </a:rPr>
              <a:t>Daily Stand-ups virtuels pour suivre l'avancement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Bilan : </a:t>
            </a:r>
            <a:r>
              <a:rPr>
                <a:solidFill>
                  <a:srgbClr val="94A3B8"/>
                </a:solidFill>
              </a:rPr>
              <a:t>Sprint Retrospectives pour améliorer l'efficacité collective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🛠️ Outils collaboratifs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Git &amp; GitHub : </a:t>
            </a:r>
            <a:r>
              <a:rPr>
                <a:solidFill>
                  <a:srgbClr val="94A3B8"/>
                </a:solidFill>
              </a:rPr>
              <a:t>Gestion de version avec branches de fonctionnalités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Trello / Kaban : </a:t>
            </a:r>
            <a:r>
              <a:rPr>
                <a:solidFill>
                  <a:srgbClr val="94A3B8"/>
                </a:solidFill>
              </a:rPr>
              <a:t>Suivi visuel des tickets de développement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Slack : </a:t>
            </a:r>
            <a:r>
              <a:rPr>
                <a:solidFill>
                  <a:srgbClr val="94A3B8"/>
                </a:solidFill>
              </a:rPr>
              <a:t>Communication fluide pour résoudre rapidement les blocages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SPÉCIFICATIONS FONCTIONNELLES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📝 Rédaction des User Stories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Formalisation claire sous forme : En tant que... Je souhaite... Afin de...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Détermination des critères d'acceptation précis pour chaque histoire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d'un backlog de produit exhaustif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🧭 Cycle de validation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Vérification en fin de sprint de la conformité fonctionnelle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Validation automatique via des cas de tests documentés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Garantie que chaque besoin utilisateur trouve sa réponse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PRIORISATION MOSCOW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🟢 MUST &amp; SHOULD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Must (Indispensable) : </a:t>
            </a:r>
            <a:r>
              <a:rPr>
                <a:solidFill>
                  <a:srgbClr val="94A3B8"/>
                </a:solidFill>
              </a:rPr>
              <a:t>Réservations, authentification, catalogue de base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Should (Important) : </a:t>
            </a:r>
            <a:r>
              <a:rPr>
                <a:solidFill>
                  <a:srgbClr val="94A3B8"/>
                </a:solidFill>
              </a:rPr>
              <a:t>Proxy API BGG, gestion des conflits en temps réel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Focus : </a:t>
            </a:r>
            <a:r>
              <a:rPr>
                <a:solidFill>
                  <a:srgbClr val="94A3B8"/>
                </a:solidFill>
              </a:rPr>
              <a:t>Garantir un MVP (Produit Minimum Viable) fonctionnel d'abord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🟡 COULD &amp; WON'T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Could (Optionnel) : </a:t>
            </a:r>
            <a:r>
              <a:rPr>
                <a:solidFill>
                  <a:srgbClr val="94A3B8"/>
                </a:solidFill>
              </a:rPr>
              <a:t>Notifications emails avancées, traduction automatique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Won't (Futur) : </a:t>
            </a:r>
            <a:r>
              <a:rPr>
                <a:solidFill>
                  <a:srgbClr val="94A3B8"/>
                </a:solidFill>
              </a:rPr>
              <a:t>Système de fidélité, paiement direct sur place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Avantage : </a:t>
            </a:r>
            <a:r>
              <a:rPr>
                <a:solidFill>
                  <a:srgbClr val="94A3B8"/>
                </a:solidFill>
              </a:rPr>
              <a:t>Éviter la dispersion et respecter le calendrier serré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MAQUETTAGE UX/UI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🎨 Charte Graphique &amp; Wireframes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de wireframes basse fidélité pour valider l'agencement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Design responsive (Mobile First) pour s'adapter à l'usage sur place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Choix de thèmes sombres et chaleureux rappelant les boîtes de jeux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🧭 Parcours Utilisateur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Réservation simplifiée en 3 étapes clés maximum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Recherche intuitive dans le catalogue de jeux avec filtres rapides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Limitation des frictions lors de la saisie d'informations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MODÉLISATION DE LA BDD (MCD)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🗄️ Entités principales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USER : </a:t>
            </a:r>
            <a:r>
              <a:rPr>
                <a:solidFill>
                  <a:srgbClr val="94A3B8"/>
                </a:solidFill>
              </a:rPr>
              <a:t>Informations de compte et rôles (admin, client)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TABLE : </a:t>
            </a:r>
            <a:r>
              <a:rPr>
                <a:solidFill>
                  <a:srgbClr val="94A3B8"/>
                </a:solidFill>
              </a:rPr>
              <a:t>Capacité minimale/maximale et statut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RESERVATION : </a:t>
            </a:r>
            <a:r>
              <a:rPr>
                <a:solidFill>
                  <a:srgbClr val="94A3B8"/>
                </a:solidFill>
              </a:rPr>
              <a:t>Dates, heures de début et fin, nombre de convives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GAME : </a:t>
            </a:r>
            <a:r>
              <a:rPr>
                <a:solidFill>
                  <a:srgbClr val="94A3B8"/>
                </a:solidFill>
              </a:rPr>
              <a:t>Fiche technique du jeu synchronisée avec BGG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🔗 Relations et Cardinalités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Un utilisateur possède 0 à plusieurs réservations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Une réservation concerne une table spécifique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Un jeu de société peut être associé à des sessions de jeu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02. CONCEPTION — TRADUCTION RELATIONNELLE (MLD/MPD)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⚙️ Clés primaires &amp; étrangères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Passage du modèle logique au modèle physique SQL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de tables de jointure pour les relations N-N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Indexation des clés étrangères pour accélérer les jointures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🔒 Intégrité des données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Contraintes de clés étrangères (ON DELETE CASCADE)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Types de colonnes optimisés pour limiter l'espace disque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Clés uniques pour éviter les doublons d'adresses emails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1 : BESOIN DU MOTEUR DE RÉSERVATION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🎯 L'Enjeu Métier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Une table ne doit jamais accueillir deux groupes distincts en même temps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Le système doit prendre en compte les heures de début et de fin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Il faut gérer la capacité de la table par rapport à la taille du groupe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🔄 Flux de Réservation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Sélection du nombre de personnes et de la date par l'utilisateur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Calcul en temps réel des créneaux disponibles côté serveur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Blocage temporaire de la table le temps de la validation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1 : SOLUTION RETENUE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🧮 Logique d'Algorithme SQL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Comparaison d'intervalles temporels via requêtes SQL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Condition d'intersection : (Start1 &lt; End2) AND (End1 &gt; Start2)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Recherche des tables ayant une capacité adaptée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🖥️ Intégration Backend Node.js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Utilisation de transactions SQL pour sécuriser les réservations simultanées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Vérification des données d'entrée avant toute opération en base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Retour d'un statut clair (201 Created ou 409 Conflict)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1 : DIFFICULTÉ &amp; RÉSOLUTION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⚠️ La Difficulté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Gérer les chevauchements partiels (ex: réservation de 18h à 20h vs 19h à 21h)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Délais de latence réseau pouvant mener à des réservations simultanées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Variabilité de capacité (une table de 4 acceptant un groupe de 2 ou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✅ La Résolution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d'une requête complexe SQL combinant dates et heures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Lock SQL au niveau des lignes de la table concernée lors de l'écriture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Tests unitaires intensifs sur les cas limites d'horaires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2 : CATALOGUE ET IMPORT BGG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🎯 Besoin de Richesse de Contenu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Afficher des fiches de jeux de société détaillées et attrayantes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Éviter aux administrateurs de saisir manuellement les informations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Disposer de visuels officiels, du nombre de joueurs et de l'âge minimum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🔗 Connexion BoardGameGeek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API publique mondiale de référence sur les jeux de société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Accès à une base de données de milliers de références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Recherche par titre de jeu à partir du backend de Cicados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2 : SOLUTION DU PROXY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🏗️ Rôle du Proxy Backend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Le frontend n'interroge pas directement l'API externe (évite les CORS)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Le backend Node.js joue le rôle de relais intermédiaire sécurisé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Nettoyage et formatage des données récupérées avant envoi au 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🔄 Conversion XML vers JSON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L'API BoardGameGeek renvoie nativement du XML volumineux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Utilisation d'un parseur XML en JS côté backend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Génération d'objets JSON épurés et directement exploitables par React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2 : LIMITER LES PANNES EXTERNES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⚠️ La Difficulté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L'API BGG subit régulièrement des ralentissements importants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Risque d'affichage vide sur notre catalogue si l'API externe tombe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Incohérences de structure XML selon les jeux interrogés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✅ La Résolution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Mise en place d'un système de mise en cache locale des réponses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Mode de sauvegarde locale (Fallback JSON) contenant des fiches par défaut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d'erreurs asynchrones robuste avec messages explicites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3 : SÉCURISATION DES ACCÈS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🎯 Isolement de l'Espace Admin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L'administrateur doit pouvoir configurer les tables et voir le planning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Les clients ne doivent accéder qu'à leurs propres réservations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Protection des données personnelles (RGPD)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🔑 Gestion des Sessions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Besoin d'une persistance de connexion sécurisée et performante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Expiration automatique des jetons de connexion après inactivité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Vérification systématique de l'identité lors des requêtes d'écriture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3 : MECANISME JWT &amp; ZOD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🎫 Jeton JWT (JSON Web Token)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Génération d'un token signé cryptographiquement côté serveur après login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Stockage du token dans des cookies HTTP-Only (anti-failles XSS)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Décodage du token par le middleware d'Express pour valider le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🛡️ Validation des Formulaires (Zod)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Utilisation de schémas Zod partagés entre frontend et backend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Validation du format d'email, de la longueur des mots de passe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Rejet immédiat des données suspectes ou malformées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03. DÉVELOPPEMENT — FCT 3 : SYNCHRONISATION DE LA SESSION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⚠️ La Difficulté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Maintenir l'état d'authentification à travers les rechargements de page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Protéger les routes privées React sans causer de clignotements d'écran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sécurisée de la déconnexion et suppression des cookies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✅ La Résolution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d'un Context React englobant l'état d'authentification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Interception des erreurs 401 pour déconnecter automatiquement l'utilisateur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Route de vérification `/me` appelée au montage de l'application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04. POINTS TECHNIQUES — ARCHITECTURE APPLICATIVE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🏗️ Structure Découplée SPA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Frontend (React/Vite) : </a:t>
            </a:r>
            <a:r>
              <a:rPr>
                <a:solidFill>
                  <a:srgbClr val="94A3B8"/>
                </a:solidFill>
              </a:rPr>
              <a:t>Application monopage gérant son propre routage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Backend (Express 5) : </a:t>
            </a:r>
            <a:r>
              <a:rPr>
                <a:solidFill>
                  <a:srgbClr val="94A3B8"/>
                </a:solidFill>
              </a:rPr>
              <a:t>API RESTful autonome fournissant les données au format JSON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Base de données (MySQL) : </a:t>
            </a:r>
            <a:r>
              <a:rPr>
                <a:solidFill>
                  <a:srgbClr val="94A3B8"/>
                </a:solidFill>
              </a:rPr>
              <a:t>Persistance isolée derrière le backend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💡 Avantages de ce choix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Modularité : </a:t>
            </a:r>
            <a:r>
              <a:rPr>
                <a:solidFill>
                  <a:srgbClr val="94A3B8"/>
                </a:solidFill>
              </a:rPr>
              <a:t>Possibilité de refondre le frontend sans toucher au backend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Performances : </a:t>
            </a:r>
            <a:r>
              <a:rPr>
                <a:solidFill>
                  <a:srgbClr val="94A3B8"/>
                </a:solidFill>
              </a:rPr>
              <a:t>Le serveur ne sert que des données brutes, déchargeant le processeur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Évolutivité : </a:t>
            </a:r>
            <a:r>
              <a:rPr>
                <a:solidFill>
                  <a:srgbClr val="94A3B8"/>
                </a:solidFill>
              </a:rPr>
              <a:t>Facilité d'ajouter d'autres clients (application mobile...) à l'API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04. POINTS TECHNIQUES — SÉCURITÉ ET BONNES PRATIQUES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🔒 Protection des données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Hachage des mots de passe en base de données avec Bcrypt (salt de 10)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Paramétrage de CORS pour n'accepter que le domaine frontend autorisé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Sanitization systématique des chaînes de caractères d'entrée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🛡️ Prévention des failles courantes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Injections SQL évitées grâce aux requêtes préparées via mysql2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Failles XSS réduites par l'usage exclusif de cookies HTTP-Only pour les JWT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Masquage des informations techniques dans les retours d'erreur HTTP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04. POINTS TECHNIQUES — OPTIMISATION DES PERFORMANCES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⚡ Optimisation Frontend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Choix du bundler Vite remplaçant Create React App pour des builds 10x plus rapides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Lazy loading des composants React lourds pour réduire le chargement initial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Minification CSS et JS intégrée par défaut lors du build de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⚙️ Optimisation Backend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Mise en cache des requêtes API externes lourdes (ex: BoardGameGeek)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d'index SQL sur les colonnes fréquemment recherchées (dates, emails)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Compression Gzip des réponses HTTP pour économiser la bande passante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04. POINTS TECHNIQUES — ACCESSIBILITÉ &amp; A11Y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♿ Respect des standards du Web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Usage de balises HTML5 sémantiques (header, main, section, footer)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Attributs alt renseignés sur toutes les images de jeux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de la navigation au clavier (focus visible sur les inputs)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🎨 Contraste &amp; Lisibilité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Vérification des contrastes texte/fond selon les normes WCAG AA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Absence d'informations transmises uniquement par la couleur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Tailles de police adaptées à la lecture sur tous types de supports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04. POINTS TECHNIQUES — INTERNATIONALISATION &amp; DEPLOIEMENT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🌍 Multilingue (i18n)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Intégration d'i18next pour la gestion dynamique des traductions FR/EN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Détection automatique de la langue préférée du navigateur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Watch script pour traduire automatiquement les nouveaux labels via DeepL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🚀 Préparation au déploiement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stricte des variables d'environnement via un fichier `.env`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Scripts NPM clairs pour installer et lancer l'ensemble en production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Absence de clés API ou de mots de passe en dur dans le code versionné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05. CONCLUSION — BILAN DU PROJET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✅ Objectifs atteints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Application fonctionnelle répondant aux critères du MVP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Interface de réservation validée sans aucun conflit d'horaire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Catalogue de jeux synchronisé avec l'API BoardGameGeek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📈 Rétrospective quantitative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Respect du cahier des charges initial à plus de 90%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Plus de 15 User Stories implémentées avec succès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Temps de réponse de l'API inférieur à 200ms sur nos requêtes locales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05. CONCLUSION — COMPÉTENCES ACQUISES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🧠 Compétences Techniques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Maîtrise approfondie du framework React 19 et de son cycle de vie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Conception d'APIs REST sécurisées et d'algorithmes de réservation complexes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des bases de données relationnelles MySQL et des contraintes d'intégrité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🤝 Compétences Humaines &amp; Projets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Rigueur dans la structuration et la gestion de projet via Git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Capacité à s'adapter face à des documentations et APIs instables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autonome du temps de travail sur des sprints intensifs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05. CONCLUSION — DIFFICULTÉS &amp; HORS-LIMITES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🧗 Obstacles Principaux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Parsing XML/BGG : </a:t>
            </a:r>
            <a:r>
              <a:rPr>
                <a:solidFill>
                  <a:srgbClr val="94A3B8"/>
                </a:solidFill>
              </a:rPr>
              <a:t>Format XML changeant et verbeux exigeant beaucoup de tests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Gestion des Dates : </a:t>
            </a:r>
            <a:r>
              <a:rPr>
                <a:solidFill>
                  <a:srgbClr val="94A3B8"/>
                </a:solidFill>
              </a:rPr>
              <a:t>Décalages horaires et fuseaux (timezone) en JS/SQL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Asynchronisme : </a:t>
            </a:r>
            <a:r>
              <a:rPr>
                <a:solidFill>
                  <a:srgbClr val="94A3B8"/>
                </a:solidFill>
              </a:rPr>
              <a:t>Gestion propre des chargements React pendant les appels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🛠️ Solutions Trouvées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Création d'un utilitaire de formatage de date unifié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Mise en place d'états de chargement visuels pour l'expérience utilisateur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Utilisation d'outils de debug de requêtes (Thunder Client / Postman)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alibri"/>
              </a:defRPr>
            </a:pPr>
            <a:r>
              <a:t>CICADOS - PRÉSENTATION DETAILLEE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05. CONCLUSION — PERSPECTIVES ET REMERCIEMENTS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10B981"/>
                </a:solidFill>
                <a:latin typeface="Calibri"/>
              </a:defRPr>
            </a:pPr>
            <a:r>
              <a:t>🔮 Évolutions futures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Intégration d'une passerelle de paiement en ligne (Stripe)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Notifications SMS automatiques de rappel de réservation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Module de recommandation intelligent de jeux basé sur le profil utilisateur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000"/>
              </a:spcAft>
              <a:defRPr sz="1600" b="1">
                <a:solidFill>
                  <a:srgbClr val="6366F1"/>
                </a:solidFill>
                <a:latin typeface="Calibri"/>
              </a:defRPr>
            </a:pPr>
            <a:r>
              <a:t>🙏 Remerciements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Merci aux formateurs d'O'Clock pour leur accompagnement pédagogique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Merci aux membres du jury pour leur écoute attentive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Calibri"/>
              </a:defRPr>
            </a:pPr>
            <a:r>
              <a:t>• Place à la démonstration en direct de l'application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