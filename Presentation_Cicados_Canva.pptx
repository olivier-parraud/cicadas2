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0B981"/>
                </a:solidFill>
              </a:defRPr>
            </a:pPr>
            <a:r>
              <a:t>CICADOS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8FAFC"/>
                </a:solidFill>
              </a:defRPr>
            </a:pPr>
            <a:r>
              <a:t>Plateforme de Réservation &amp; Gestion pour Bar à Jeux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Soutenance Orale — Titre Professionnel Développeur Web et Web Mobile (DWWM)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CICADOS - PRÉSENTATION ORALE DWWM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01. INTRODUCTION — CONTEXTE &amp; BESOIN METIER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📌 Le Contexte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Secteur : </a:t>
            </a:r>
            <a:r>
              <a:rPr>
                <a:solidFill>
                  <a:srgbClr val="94A3B8"/>
                </a:solidFill>
              </a:rPr>
              <a:t>Bar à jeux de société &amp; espaces événementiels ludiques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Activité : </a:t>
            </a:r>
            <a:r>
              <a:rPr>
                <a:solidFill>
                  <a:srgbClr val="94A3B8"/>
                </a:solidFill>
              </a:rPr>
              <a:t>Organisation de soirées jeux, tournois et réservations de tables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Enjeu : </a:t>
            </a:r>
            <a:r>
              <a:rPr>
                <a:solidFill>
                  <a:srgbClr val="94A3B8"/>
                </a:solidFill>
              </a:rPr>
              <a:t>Offrir une expérience fluide aux clients et simplifier le travail de l'équipe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🎯 Le Besoin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Gestion Manuelle : </a:t>
            </a:r>
            <a:r>
              <a:rPr>
                <a:solidFill>
                  <a:srgbClr val="94A3B8"/>
                </a:solidFill>
              </a:rPr>
              <a:t>Risques élevés d'erreurs et de double-réservation sur une même table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Visibilité Jeux : </a:t>
            </a:r>
            <a:r>
              <a:rPr>
                <a:solidFill>
                  <a:srgbClr val="94A3B8"/>
                </a:solidFill>
              </a:rPr>
              <a:t>Difficulté pour les clients à consulter le catalogue de jeux disponibles à l'avance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Gain de Temps : </a:t>
            </a:r>
            <a:r>
              <a:rPr>
                <a:solidFill>
                  <a:srgbClr val="94A3B8"/>
                </a:solidFill>
              </a:rPr>
              <a:t>Besoin d'automatiser le planning et la vérification des créneaux horaires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CICADOS - PRÉSENTATION ORALE DWWM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01. INTRODUCTION — LA SOLUTION CICADOS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6366F1"/>
                </a:solidFill>
                <a:latin typeface="Calibri"/>
              </a:defRPr>
            </a:pPr>
            <a:r>
              <a:t>⚡ Web App Fullstack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Architecture sur-mesure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Frontend React (Vite)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Backend REST Express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Base MySQL sécurisée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📅 Réservation Zéro Conflit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Moteur de vérification temps réel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Contrôle des créneaux horaires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Gestion intelligente des capacités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Confirmation instantanée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6366F1"/>
                </a:solidFill>
                <a:latin typeface="Calibri"/>
              </a:defRPr>
            </a:pPr>
            <a:r>
              <a:t>🎲 Catalogue Interactif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API BoardGameGeek (BGG)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Fiches de jeux enrichies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Mode de sauvegarde secours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Recherche et filtres avancés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CICADOS - PRÉSENTATION ORALE DWWM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02. LA CONCEPTION — PRÉPARATION &amp; CHOIX DU 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1. Méthodologie Agile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Découpage en User Stories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Priorisation avec matrice MoSCoW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Organisation en Sprints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Livrables incrémentaux (MVP)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2. UX &amp; Maquettage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Wireframes &amp; Wireflows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Parcours client optimisé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Interface responsive mobile/desktop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Design System propre (Tailwind)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3. Modélisation BDD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Schéma conceptuel (MCD)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Traduction en MLD relationnel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Normalisation des tables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Intégrité référentielle 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CICADOS - PRÉSENTATION ORALE DWWM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03. DÉVELOPPEMENT — FCT 1 : MOTEUR ANTI-CONFLIT DE RÉSERVATION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🎯 Besoin &amp; 💡 Solution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Besoin : </a:t>
            </a:r>
            <a:r>
              <a:rPr>
                <a:solidFill>
                  <a:srgbClr val="94A3B8"/>
                </a:solidFill>
              </a:rPr>
              <a:t>Empêcher 100% des chevauchements de créneaux sur une même table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Pourquoi cette solution : </a:t>
            </a:r>
            <a:r>
              <a:rPr>
                <a:solidFill>
                  <a:srgbClr val="94A3B8"/>
                </a:solidFill>
              </a:rPr>
              <a:t>Validation algorithmique backend via requêtes SQL transactionnelles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Logique d'intervalle : </a:t>
            </a:r>
            <a:r>
              <a:rPr>
                <a:solidFill>
                  <a:srgbClr val="94A3B8"/>
                </a:solidFill>
              </a:rPr>
              <a:t>(Debut_Existant &lt; Fin_Demandee) ET (Fin_Existant &gt; Debut_Demandee)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⚠️ Difficulté &amp; ✅ Résolution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Difficulté rencontrée : </a:t>
            </a:r>
            <a:r>
              <a:rPr>
                <a:solidFill>
                  <a:srgbClr val="94A3B8"/>
                </a:solidFill>
              </a:rPr>
              <a:t>Gestion des créneaux partiels et variations de capacité selon le nombre de joueurs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Résolution apportée : </a:t>
            </a:r>
            <a:r>
              <a:rPr>
                <a:solidFill>
                  <a:srgbClr val="94A3B8"/>
                </a:solidFill>
              </a:rPr>
              <a:t>Requête SQL optimisée avec vérification des bornes et retour d'erreur explicite au Frontend React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Résultat : </a:t>
            </a:r>
            <a:r>
              <a:rPr>
                <a:solidFill>
                  <a:srgbClr val="94A3B8"/>
                </a:solidFill>
              </a:rPr>
              <a:t>Zéro sur-réservation possible sur l'ensemble de l'établissement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CICADOS - PRÉSENTATION ORALE DWWM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03. DÉVELOPPEMENT — FCT 2 : INTÉGRATION API BGG &amp; PROXY XML/JSON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🎯 Besoin &amp; 💡 Solution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Besoin : </a:t>
            </a:r>
            <a:r>
              <a:rPr>
                <a:solidFill>
                  <a:srgbClr val="94A3B8"/>
                </a:solidFill>
              </a:rPr>
              <a:t>Alimenter automatiquement les fiches de jeux avec visuels, durées et nombre de joueurs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Pourquoi cette solution : </a:t>
            </a:r>
            <a:r>
              <a:rPr>
                <a:solidFill>
                  <a:srgbClr val="94A3B8"/>
                </a:solidFill>
              </a:rPr>
              <a:t>Création d'un Proxy backend Node.js interrogeant l'API externe BoardGameGeek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Format : </a:t>
            </a:r>
            <a:r>
              <a:rPr>
                <a:solidFill>
                  <a:srgbClr val="94A3B8"/>
                </a:solidFill>
              </a:rPr>
              <a:t>Conversion automatique du format XML natif de BGG vers du JSON structuré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⚠️ Difficulté &amp; ✅ Résolution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Difficulté rencontrée : </a:t>
            </a:r>
            <a:r>
              <a:rPr>
                <a:solidFill>
                  <a:srgbClr val="94A3B8"/>
                </a:solidFill>
              </a:rPr>
              <a:t>Latence de l'API externe BGG et risque d'inaccessibilité / réseau hors-ligne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Résolution apportée : </a:t>
            </a:r>
            <a:r>
              <a:rPr>
                <a:solidFill>
                  <a:srgbClr val="94A3B8"/>
                </a:solidFill>
              </a:rPr>
              <a:t>Parser XML-&gt;JSON optimisé avec système de mise en cache et basculement secours (Fallback JSON)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Résultat : </a:t>
            </a:r>
            <a:r>
              <a:rPr>
                <a:solidFill>
                  <a:srgbClr val="94A3B8"/>
                </a:solidFill>
              </a:rPr>
              <a:t>Affichage fluide du catalogue même en cas d'interruption du service BGG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CICADOS - PRÉSENTATION ORALE DWWM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03. DÉVELOPPEMENT — FCT 3 : AUTHENTIFICATION &amp; SÉCURITÉ ZOD/JWT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🎯 Besoin &amp; 💡 Solution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Besoin : </a:t>
            </a:r>
            <a:r>
              <a:rPr>
                <a:solidFill>
                  <a:srgbClr val="94A3B8"/>
                </a:solidFill>
              </a:rPr>
              <a:t>Sécuriser les données personnelles des clients et l'accès à l'espace administration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Pourquoi cette solution : </a:t>
            </a:r>
            <a:r>
              <a:rPr>
                <a:solidFill>
                  <a:srgbClr val="94A3B8"/>
                </a:solidFill>
              </a:rPr>
              <a:t>Authentification basée sur les jetons JWT et validation stricte avec Zod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Architecture Auth : </a:t>
            </a:r>
            <a:r>
              <a:rPr>
                <a:solidFill>
                  <a:srgbClr val="94A3B8"/>
                </a:solidFill>
              </a:rPr>
              <a:t>Validation partagée Frontend &amp; Backend pour une étanchéité maximale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⚠️ Difficulté &amp; ✅ Résolution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Difficulté rencontrée : </a:t>
            </a:r>
            <a:r>
              <a:rPr>
                <a:solidFill>
                  <a:srgbClr val="94A3B8"/>
                </a:solidFill>
              </a:rPr>
              <a:t>Synchronisation de l'état de connexion React et gestion du rafraîchissement des tokens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Résolution apportée : </a:t>
            </a:r>
            <a:r>
              <a:rPr>
                <a:solidFill>
                  <a:srgbClr val="94A3B8"/>
                </a:solidFill>
              </a:rPr>
              <a:t>Mise en place d'un Context React d'authentification et d'un middleware Express centralisé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Résultat : </a:t>
            </a:r>
            <a:r>
              <a:rPr>
                <a:solidFill>
                  <a:srgbClr val="94A3B8"/>
                </a:solidFill>
              </a:rPr>
              <a:t>Session utilisateur fluide, sécurisée et totalement isolée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CICADOS - PRÉSENTATION ORALE DWWM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04. POINTS TECHNIQUES — ARCHITECTURE &amp; SÉCURITÉ OWASP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🏗️ Architecture Découplée (MVC)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Frontend React 19 / Vite : </a:t>
            </a:r>
            <a:r>
              <a:rPr>
                <a:solidFill>
                  <a:srgbClr val="94A3B8"/>
                </a:solidFill>
              </a:rPr>
              <a:t>Interface dynamique SPA, réactivité instantanée pour l'utilisateur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Backend Express 5 (REST API) : </a:t>
            </a:r>
            <a:r>
              <a:rPr>
                <a:solidFill>
                  <a:srgbClr val="94A3B8"/>
                </a:solidFill>
              </a:rPr>
              <a:t>Centralisation de la logique métier et isolation de la base de données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Base MySQL 8 : </a:t>
            </a:r>
            <a:r>
              <a:rPr>
                <a:solidFill>
                  <a:srgbClr val="94A3B8"/>
                </a:solidFill>
              </a:rPr>
              <a:t>Persistance des données avec intégrité référentielle stricte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🔒 Sécurité (Bonnes Pratiques OWASP)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Hachage Mots de Passe : </a:t>
            </a:r>
            <a:r>
              <a:rPr>
                <a:solidFill>
                  <a:srgbClr val="94A3B8"/>
                </a:solidFill>
              </a:rPr>
              <a:t>Bcrypt avec salt élevé pour protéger les identifiants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Injections SQL : </a:t>
            </a:r>
            <a:r>
              <a:rPr>
                <a:solidFill>
                  <a:srgbClr val="94A3B8"/>
                </a:solidFill>
              </a:rPr>
              <a:t>Requêtes préparées systématiques via le driver mysql2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Protection des Clés : </a:t>
            </a:r>
            <a:r>
              <a:rPr>
                <a:solidFill>
                  <a:srgbClr val="94A3B8"/>
                </a:solidFill>
              </a:rPr>
              <a:t>Variables d'environnement (.env) totalement isolées du code source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CICADOS - PRÉSENTATION ORALE DWWM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04. POINTS TECHNIQUES — PERFORMANCE, ACCESSIBILITÉ &amp; I18N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⚡ Performance &amp; Qualité Code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Bundler Vite : </a:t>
            </a:r>
            <a:r>
              <a:rPr>
                <a:solidFill>
                  <a:srgbClr val="94A3B8"/>
                </a:solidFill>
              </a:rPr>
              <a:t>Temps de build et chargement optimisés par rapport aux outils traditionnels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Composants Réutilisables : </a:t>
            </a:r>
            <a:r>
              <a:rPr>
                <a:solidFill>
                  <a:srgbClr val="94A3B8"/>
                </a:solidFill>
              </a:rPr>
              <a:t>Architecture modulaire React facilitant la maintenance du code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Validation Zod : </a:t>
            </a:r>
            <a:r>
              <a:rPr>
                <a:solidFill>
                  <a:srgbClr val="94A3B8"/>
                </a:solidFill>
              </a:rPr>
              <a:t>Rejet immédiat des données non conformes dès le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♿ Accessibilité &amp; Internationalisation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HTML5 Sémantique : </a:t>
            </a:r>
            <a:r>
              <a:rPr>
                <a:solidFill>
                  <a:srgbClr val="94A3B8"/>
                </a:solidFill>
              </a:rPr>
              <a:t>Structure propre pour les lecteurs d'écran et bon niveau de contraste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Support Multilingue (i18n) : </a:t>
            </a:r>
            <a:r>
              <a:rPr>
                <a:solidFill>
                  <a:srgbClr val="94A3B8"/>
                </a:solidFill>
              </a:rPr>
              <a:t>Gestion FR / EN via i18next et traduction automatique DeepL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Design Responsive : </a:t>
            </a:r>
            <a:r>
              <a:rPr>
                <a:solidFill>
                  <a:srgbClr val="94A3B8"/>
                </a:solidFill>
              </a:rPr>
              <a:t>Utilisation de Tailwind v4 pour une adaptation parfaite sur mobile et desktop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CICADOS - PRÉSENTATION ORALE DWWM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05. CONCLUSION — BILAN, DIFFICULTÉS &amp; EVOLUTIONS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🎓 Ce que j'ai appris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Maîtrise complète de la chaîne Fullstack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Conception d'algorithmes métier avancés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Gestion des aléas liés aux API tierces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Rigueur de la méthodologie Agile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🧗 Difficultés surmontées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Gestion du temps sur les Sprints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Parsing et fiabilisation des flux XML BGG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Complexité des créneaux horaire chevauchants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6366F1"/>
                </a:solidFill>
                <a:latin typeface="Calibri"/>
              </a:defRPr>
            </a:pPr>
            <a:r>
              <a:t>🔮 Évolutions futures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Paiement en ligne d'acompte (Stripe)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Notifications SMS / Email de rappel (Brevo)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Module de recommandation de jeux par 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4400" b="1">
                <a:solidFill>
                  <a:srgbClr val="10B981"/>
                </a:solidFill>
              </a:defRPr>
            </a:pPr>
            <a:r>
              <a:t>MERCI DE VOTRE ATTENTION !</a:t>
            </a:r>
          </a:p>
          <a:p>
            <a:pPr algn="ctr">
              <a:spcAft>
                <a:spcPts val="1200"/>
              </a:spcAft>
              <a:defRPr sz="2200" b="1">
                <a:solidFill>
                  <a:srgbClr val="F8FAFC"/>
                </a:solidFill>
              </a:defRPr>
            </a:pPr>
            <a:r>
              <a:t>🚀 Place à la démonstration en direct de l'application Cicados</a:t>
            </a:r>
          </a:p>
          <a:p>
            <a:pPr algn="ctr">
              <a:defRPr sz="1800">
                <a:solidFill>
                  <a:srgbClr val="94A3B8"/>
                </a:solidFill>
              </a:defRPr>
            </a:pPr>
            <a:r>
              <a:t>Échanges &amp; Questions avec le Jury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