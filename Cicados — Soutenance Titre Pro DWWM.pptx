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TT Hoves" charset="1" panose="02000003020000060003"/>
      <p:regular r:id="rId37"/>
    </p:embeddedFont>
    <p:embeddedFont>
      <p:font typeface="TT Hoves Bold" charset="1" panose="02000003020000060003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Titre Pro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0365" y="5095136"/>
            <a:ext cx="10910396" cy="320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209"/>
              </a:lnSpc>
            </a:pPr>
            <a:r>
              <a:rPr lang="en-US" b="true" sz="12988" spc="-63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Soutenance Titre Pro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7781" y="8680313"/>
            <a:ext cx="8459795" cy="57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8"/>
              </a:lnSpc>
            </a:pPr>
            <a:r>
              <a:rPr lang="en-US" sz="4378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Candidat : PARRAUD Olivier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126789" y="-2986203"/>
            <a:ext cx="13695367" cy="13695367"/>
          </a:xfrm>
          <a:custGeom>
            <a:avLst/>
            <a:gdLst/>
            <a:ahLst/>
            <a:cxnLst/>
            <a:rect r="r" b="b" t="t" l="l"/>
            <a:pathLst>
              <a:path h="13695367" w="13695367">
                <a:moveTo>
                  <a:pt x="0" y="0"/>
                </a:moveTo>
                <a:lnTo>
                  <a:pt x="13695367" y="0"/>
                </a:lnTo>
                <a:lnTo>
                  <a:pt x="13695367" y="13695367"/>
                </a:lnTo>
                <a:lnTo>
                  <a:pt x="0" y="13695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17213" y="1978129"/>
            <a:ext cx="3672649" cy="67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12"/>
              </a:lnSpc>
            </a:pPr>
            <a:r>
              <a:rPr lang="en-US" b="true" sz="36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9697" y="2060425"/>
            <a:ext cx="1786853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9697" y="4785882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9697" y="7566697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02381" y="2032747"/>
            <a:ext cx="1999455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02381" y="4758204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02381" y="7539018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-5400000">
            <a:off x="3276064" y="4235872"/>
            <a:ext cx="12050198" cy="181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580"/>
              </a:lnSpc>
              <a:spcBef>
                <a:spcPct val="0"/>
              </a:spcBef>
            </a:pPr>
            <a:r>
              <a:rPr lang="en-US" b="true" sz="14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SOMMAIRE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17213" y="4751376"/>
            <a:ext cx="3539818" cy="67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12"/>
              </a:lnSpc>
            </a:pPr>
            <a:r>
              <a:rPr lang="en-US" b="true" sz="36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CONCEPTION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617213" y="7188756"/>
            <a:ext cx="3672649" cy="136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12"/>
              </a:lnSpc>
            </a:pPr>
            <a:r>
              <a:rPr lang="en-US" b="true" sz="36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ARCHITECTURE &amp; CHOIX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6388" y="1978129"/>
            <a:ext cx="4100659" cy="67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12"/>
              </a:lnSpc>
            </a:pPr>
            <a:r>
              <a:rPr lang="en-US" b="true" sz="36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DÉVELOPPEMENT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16809" y="4403713"/>
            <a:ext cx="3539818" cy="136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12"/>
              </a:lnSpc>
            </a:pPr>
            <a:r>
              <a:rPr lang="en-US" b="true" sz="36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POINTS TECHNIQUES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16809" y="7456722"/>
            <a:ext cx="3539818" cy="67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12"/>
              </a:lnSpc>
            </a:pPr>
            <a:r>
              <a:rPr lang="en-US" b="true" sz="36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6258" y="-976142"/>
            <a:ext cx="7178388" cy="11878896"/>
            <a:chOff x="0" y="0"/>
            <a:chExt cx="1890604" cy="31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22326" y="-4414507"/>
            <a:ext cx="8515315" cy="8579663"/>
          </a:xfrm>
          <a:custGeom>
            <a:avLst/>
            <a:gdLst/>
            <a:ahLst/>
            <a:cxnLst/>
            <a:rect r="r" b="b" t="t" l="l"/>
            <a:pathLst>
              <a:path h="8579663" w="8515315">
                <a:moveTo>
                  <a:pt x="0" y="0"/>
                </a:moveTo>
                <a:lnTo>
                  <a:pt x="8515315" y="0"/>
                </a:lnTo>
                <a:lnTo>
                  <a:pt x="8515315" y="8579663"/>
                </a:lnTo>
                <a:lnTo>
                  <a:pt x="0" y="8579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26267" y="4251524"/>
            <a:ext cx="3442904" cy="4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27"/>
              </a:lnSpc>
              <a:spcBef>
                <a:spcPct val="0"/>
              </a:spcBef>
            </a:pPr>
            <a:r>
              <a:rPr lang="en-US" sz="2686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PARRAUD OLIVIER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26267" y="1807466"/>
            <a:ext cx="9760574" cy="215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4"/>
              </a:lnSpc>
            </a:pPr>
            <a:r>
              <a:rPr lang="en-US" b="true" sz="8813" spc="-4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Présentation du Candidat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4106194" y="7911056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4106194" y="2143229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4961725" y="5027142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725735" y="7390473"/>
            <a:ext cx="5508869" cy="342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36"/>
              </a:lnSpc>
            </a:pPr>
            <a:r>
              <a:rPr lang="en-US" b="true" sz="26953" spc="-1320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3456" y="4250448"/>
            <a:ext cx="1450441" cy="43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730" spc="16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27 ans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6267" y="4912452"/>
            <a:ext cx="5243501" cy="43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730" spc="16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Diplomé d’un BAC PRO SN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26267" y="5545998"/>
            <a:ext cx="4412410" cy="44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27"/>
              </a:lnSpc>
              <a:spcBef>
                <a:spcPct val="0"/>
              </a:spcBef>
            </a:pPr>
            <a:r>
              <a:rPr lang="en-US" sz="2686" spc="16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Passioné d’informatique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26267" y="6211193"/>
            <a:ext cx="5774824" cy="43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730" spc="16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Attrait pour le Dev depuis COVID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08195" y="7501965"/>
            <a:ext cx="4412410" cy="49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90"/>
              </a:lnSpc>
              <a:spcBef>
                <a:spcPct val="0"/>
              </a:spcBef>
            </a:pPr>
            <a:r>
              <a:rPr lang="en-US" b="true" sz="3030" spc="18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COMPÉTENCE VISÉE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60605" y="8168137"/>
            <a:ext cx="5774824" cy="89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484" indent="-294742" lvl="1">
              <a:lnSpc>
                <a:spcPts val="3685"/>
              </a:lnSpc>
              <a:buFont typeface="Arial"/>
              <a:buChar char="•"/>
            </a:pPr>
            <a:r>
              <a:rPr lang="en-US" sz="2730" spc="16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Maîtrise React, Node.js</a:t>
            </a:r>
          </a:p>
          <a:p>
            <a:pPr algn="l" marL="589484" indent="-294742" lvl="1">
              <a:lnSpc>
                <a:spcPts val="3685"/>
              </a:lnSpc>
              <a:spcBef>
                <a:spcPct val="0"/>
              </a:spcBef>
              <a:buFont typeface="Arial"/>
              <a:buChar char="•"/>
            </a:pPr>
            <a:r>
              <a:rPr lang="en-US" sz="2730" spc="16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Design UI/UX moderne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0264" y="1667237"/>
            <a:ext cx="7639050" cy="1327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173"/>
              </a:lnSpc>
            </a:pPr>
            <a:r>
              <a:rPr lang="en-US" b="true" sz="9688" spc="-47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Le Contexte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958504" y="-247738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849343" y="7803235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849343" y="203540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50836"/>
            <a:ext cx="7498697" cy="48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9"/>
              </a:lnSpc>
            </a:pPr>
            <a:r>
              <a:rPr lang="en-US" b="true" sz="37861" spc="-18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6356" y="4180746"/>
            <a:ext cx="5774824" cy="57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30"/>
              </a:lnSpc>
              <a:spcBef>
                <a:spcPct val="0"/>
              </a:spcBef>
            </a:pPr>
            <a:r>
              <a:rPr lang="en-US" sz="3430" spc="20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Café-Boutique Hybride &amp; Spécialisé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06356" y="4906156"/>
            <a:ext cx="7486867" cy="11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630"/>
              </a:lnSpc>
              <a:spcBef>
                <a:spcPct val="0"/>
              </a:spcBef>
            </a:pPr>
            <a:r>
              <a:rPr lang="en-US" sz="3430" spc="205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Établissement dédié aux jeux de société et tournois de cartes TCG (Pokémon, Lorcana, Magic, Yu-Gi-Oh!).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6356" y="6440178"/>
            <a:ext cx="7486867" cy="43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85"/>
              </a:lnSpc>
              <a:spcBef>
                <a:spcPct val="0"/>
              </a:spcBef>
            </a:pPr>
            <a:r>
              <a:rPr lang="en-US" sz="2730" spc="163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Capacité physique de 4 tables (16 places) : besoin impératif d'un outil digital de gestion et de réservation.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79949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55095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30850"/>
            <a:ext cx="264649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Gestion stricte de 4 tables physiques sans aucun surbooking. Réservation en ligne en temps réel et validation instantanée.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05996"/>
            <a:ext cx="273286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Autonomie des joueurs 24h/24. Consultation immédiate des disponibilités et suppression des erreurs de réservation manuelles.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79949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30850"/>
            <a:ext cx="2747991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Fédération de la communauté TCG. Gestion des inscriptions aux tournois officiels avec jauges de capacité limitées.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55095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05996"/>
            <a:ext cx="264649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Boutique en ligne et ludothèque physique. Suivi dynamique des stocks et catalogue synchronisé.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147543"/>
            <a:ext cx="6935284" cy="252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135"/>
              </a:lnSpc>
            </a:pPr>
            <a:r>
              <a:rPr lang="en-US" b="true" sz="12687" spc="-6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Le besoin métier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-336613"/>
            <a:ext cx="6393149" cy="412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42"/>
              </a:lnSpc>
            </a:pPr>
            <a:r>
              <a:rPr lang="en-US" b="true" sz="32279" spc="-158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 DWWM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PARRAUD Olivier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83888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83888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−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8519" y="2097992"/>
            <a:ext cx="4609698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Réservations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58519" y="5673138"/>
            <a:ext cx="3789369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Boutique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58519" y="2939367"/>
            <a:ext cx="2646492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Gestion centralisée des 4 tables • Algorithme d'attribution anti-conflit • Jauge en temps réel et Toast.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58519" y="6514513"/>
            <a:ext cx="2732862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Catalogue jeux de société synchronisé BGG • Gestion des stocks boutique • Fiches produits complètes.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03723" y="2097992"/>
            <a:ext cx="3398572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Tournois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03723" y="2939367"/>
            <a:ext cx="274799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Agenda officiel TCG • Inscriptions/désistements en 1 clic • Liste des participants avec avatars.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23805" y="597476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0"/>
                </a:lnTo>
                <a:lnTo>
                  <a:pt x="0" y="7624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03723" y="5673138"/>
            <a:ext cx="4784397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Support client direct asynchrone • Suivi des conversations multi-tours • Pastilles de notification gérant.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3723" y="6514513"/>
            <a:ext cx="2646492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Messagerie multi-tours entre membres et administration, notifications et suivi des conversations pour un service client réactif.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98774" y="2154593"/>
            <a:ext cx="273982" cy="245024"/>
            <a:chOff x="0" y="0"/>
            <a:chExt cx="91718" cy="8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98774" y="5729739"/>
            <a:ext cx="273982" cy="245024"/>
            <a:chOff x="0" y="0"/>
            <a:chExt cx="91718" cy="820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86814" y="5729739"/>
            <a:ext cx="273982" cy="245024"/>
            <a:chOff x="0" y="0"/>
            <a:chExt cx="91718" cy="8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86814" y="2154593"/>
            <a:ext cx="273982" cy="245024"/>
            <a:chOff x="0" y="0"/>
            <a:chExt cx="91718" cy="82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822665" y="-795948"/>
            <a:ext cx="7178388" cy="11878896"/>
            <a:chOff x="0" y="0"/>
            <a:chExt cx="1890604" cy="31285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-5400000">
            <a:off x="-1309456" y="2936322"/>
            <a:ext cx="10287000" cy="441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01"/>
              </a:lnSpc>
            </a:pPr>
            <a:r>
              <a:rPr lang="en-US" b="true" sz="16901" spc="-81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Solution Cicados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707284" y="-238195"/>
            <a:ext cx="3677731" cy="282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1"/>
              </a:lnSpc>
            </a:pPr>
            <a:r>
              <a:rPr lang="en-US" b="true" sz="22225" spc="-108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5628" y="-3991568"/>
            <a:ext cx="9598990" cy="9598990"/>
          </a:xfrm>
          <a:custGeom>
            <a:avLst/>
            <a:gdLst/>
            <a:ahLst/>
            <a:cxnLst/>
            <a:rect r="r" b="b" t="t" l="l"/>
            <a:pathLst>
              <a:path h="9598990" w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6061577"/>
            <a:ext cx="6574559" cy="165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Méthodologie Agile Scrum &amp; Sprints itératifs de 2 semaines pour garantir une livraison maîtrisée et testée.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75489" y="1170261"/>
            <a:ext cx="6998061" cy="2561528"/>
            <a:chOff x="0" y="0"/>
            <a:chExt cx="2342659" cy="857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91672" y="2024301"/>
            <a:ext cx="1578952" cy="103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601687" y="6550836"/>
            <a:ext cx="7498697" cy="48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9"/>
              </a:lnSpc>
            </a:pPr>
            <a:r>
              <a:rPr lang="en-US" b="true" sz="37861" spc="-18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5489" y="3862348"/>
            <a:ext cx="6998061" cy="2561528"/>
            <a:chOff x="0" y="0"/>
            <a:chExt cx="2342659" cy="8574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75489" y="6557226"/>
            <a:ext cx="6998061" cy="2561528"/>
            <a:chOff x="0" y="0"/>
            <a:chExt cx="2342659" cy="857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91672" y="4717783"/>
            <a:ext cx="1578952" cy="103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491672" y="7411266"/>
            <a:ext cx="1578952" cy="1034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18908" y="1730935"/>
            <a:ext cx="4132127" cy="118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88"/>
              </a:lnSpc>
              <a:spcBef>
                <a:spcPct val="0"/>
              </a:spcBef>
            </a:pPr>
            <a:r>
              <a:rPr lang="en-US" sz="1399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Découpage en 4 Sprints : Sprint 0 (Cadrage/MCD) • Sprint 1 (MVC/Catalogue) • Sprint 2 (Réservations/Anti-surbooking) • Sprint 3 (Admin/Tests).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18908" y="4424417"/>
            <a:ext cx="4132127" cy="118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88"/>
              </a:lnSpc>
              <a:spcBef>
                <a:spcPct val="0"/>
              </a:spcBef>
            </a:pPr>
            <a:r>
              <a:rPr lang="en-US" sz="1399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Prototypage &amp; Maquettage UX/UI : Wireframes fonctionnels sous Excalidraw, validation amont des parcours clients et ergonomie mobile.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18908" y="7117899"/>
            <a:ext cx="4132127" cy="118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88"/>
              </a:lnSpc>
              <a:spcBef>
                <a:spcPct val="0"/>
              </a:spcBef>
            </a:pPr>
            <a:r>
              <a:rPr lang="en-US" sz="1399" spc="22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Priorisation continue par la valeur : Focus absolu sur les fonctionnalités vitales (anti-surbooking, sécurité, support).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4950" y="3384881"/>
            <a:ext cx="7639050" cy="261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73"/>
              </a:lnSpc>
            </a:pPr>
            <a:r>
              <a:rPr lang="en-US" b="true" sz="9688" spc="-47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Démarche de Conception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79949"/>
            <a:ext cx="2197323" cy="57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10"/>
              </a:lnSpc>
            </a:pPr>
            <a:r>
              <a:rPr lang="en-US" b="true" sz="418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MUST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55095"/>
            <a:ext cx="2197323" cy="57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10"/>
              </a:lnSpc>
            </a:pPr>
            <a:r>
              <a:rPr lang="en-US" b="true" sz="418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SHOULD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30850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Réservation anti-surbooking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Catalogue boutique &amp; stocks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Messagerie support multi-tours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Authentification sécurisée JWT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Dashboard Administrateur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05996"/>
            <a:ext cx="273286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Organisation tournois TCG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Import automatique API BGG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Basculement secours JSON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Support bilingue i18next</a:t>
            </a:r>
          </a:p>
          <a:p>
            <a:pPr algn="just" marL="0" indent="0" lvl="0">
              <a:lnSpc>
                <a:spcPts val="233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79949"/>
            <a:ext cx="2197323" cy="57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10"/>
              </a:lnSpc>
            </a:pPr>
            <a:r>
              <a:rPr lang="en-US" b="true" sz="418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WON'T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30850"/>
            <a:ext cx="2747991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Paiement en ligne Stripe (V2)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Application mobile native (V2)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WebSockets Socket.io temps réel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Classement Elo compétitif</a:t>
            </a:r>
          </a:p>
          <a:p>
            <a:pPr algn="just" marL="0" indent="0" lvl="0">
              <a:lnSpc>
                <a:spcPts val="233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55095"/>
            <a:ext cx="2197323" cy="57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310"/>
              </a:lnSpc>
            </a:pPr>
            <a:r>
              <a:rPr lang="en-US" b="true" sz="418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COULD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05996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Filtres de recherche avancés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Statistiques de fréquentation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Mode sombre / contraste A11y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Export CSV des réservations</a:t>
            </a:r>
          </a:p>
          <a:p>
            <a:pPr algn="just" marL="0" indent="0" lvl="0">
              <a:lnSpc>
                <a:spcPts val="2338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016455"/>
            <a:ext cx="6935284" cy="264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46"/>
              </a:lnSpc>
            </a:pPr>
            <a:r>
              <a:rPr lang="en-US" b="true" sz="9231" spc="-45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Analyse des besoins MoSCoW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132969"/>
            <a:ext cx="6393149" cy="297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78"/>
              </a:lnSpc>
            </a:pPr>
            <a:r>
              <a:rPr lang="en-US" b="true" sz="23487" spc="-115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74363"/>
            <a:ext cx="3117321" cy="3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46"/>
              </a:lnSpc>
              <a:spcBef>
                <a:spcPct val="0"/>
              </a:spcBef>
            </a:pPr>
            <a:r>
              <a:rPr lang="en-US" sz="217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74363"/>
            <a:ext cx="3117321" cy="3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46"/>
              </a:lnSpc>
              <a:spcBef>
                <a:spcPct val="0"/>
              </a:spcBef>
            </a:pPr>
            <a:r>
              <a:rPr lang="en-US" sz="217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74363"/>
            <a:ext cx="3117321" cy="3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6"/>
              </a:lnSpc>
              <a:spcBef>
                <a:spcPct val="0"/>
              </a:spcBef>
            </a:pPr>
            <a:r>
              <a:rPr lang="en-US" sz="217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74363"/>
            <a:ext cx="1406261" cy="3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6"/>
              </a:lnSpc>
              <a:spcBef>
                <a:spcPct val="0"/>
              </a:spcBef>
            </a:pPr>
            <a:r>
              <a:rPr lang="en-US" sz="217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74363"/>
            <a:ext cx="1406261" cy="37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6"/>
              </a:lnSpc>
              <a:spcBef>
                <a:spcPct val="0"/>
              </a:spcBef>
            </a:pPr>
            <a:r>
              <a:rPr lang="en-US" sz="2176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299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User Stories Métier &amp; Critères d'Acceptation :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Joueur : Je veux réserver une table libre pour garantir ma place au café sans incertitude.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Gérant : Je veux rejeter toute 5ème réservation simultanée pour préserver l'intégrité de mes 4 tables.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Membre : Je veux échanger directement avec l'équipe pour des questions sur les tournois.</a:t>
            </a:r>
          </a:p>
          <a:p>
            <a:r>
              <a:rPr sz="1998">
                <a:solidFill>
                  <a:srgbClr val="343434"/>
                </a:solidFill>
                <a:latin typeface="TT Hoves"/>
              </a:rPr>
              <a:t>Règles d'acceptation formalisées garantissant une conformité totale au cahier des charges.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2507772"/>
            <a:ext cx="763905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80"/>
              </a:lnSpc>
            </a:pPr>
            <a:r>
              <a:rPr lang="en-US" b="true" sz="9600" spc="-47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Spécifications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49343" y="7803235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43" y="203540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6576183"/>
            <a:ext cx="7498697" cy="476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63"/>
              </a:lnSpc>
            </a:pPr>
            <a:r>
              <a:rPr lang="en-US" b="true" sz="37513" spc="-183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98999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74145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30850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Accueil immersif, catalogue ludothèque synchronisé BGG, agenda officiel des tournois TCG et infos pratiques.</a:t>
            </a:r>
          </a:p>
          <a:p>
            <a:pPr algn="just" marL="0" indent="0" lvl="0">
              <a:lnSpc>
                <a:spcPts val="2338"/>
              </a:lnSpc>
            </a:pPr>
          </a:p>
          <a:p>
            <a:pPr algn="just" marL="0" indent="0" lvl="0">
              <a:lnSpc>
                <a:spcPts val="233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05996"/>
            <a:ext cx="273286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Réservation de tables, inscription aux tournois, profil membre et messagerie support multi-tours.</a:t>
            </a:r>
          </a:p>
          <a:p>
            <a:pPr algn="just" marL="0" indent="0" lvl="0">
              <a:lnSpc>
                <a:spcPts val="2338"/>
              </a:lnSpc>
            </a:pPr>
          </a:p>
          <a:p>
            <a:pPr algn="just" marL="0" indent="0" lvl="0">
              <a:lnSpc>
                <a:spcPts val="233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98999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30850"/>
            <a:ext cx="2747991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Inscription sécurisée avec conformité RGPD, connexion par token JWT, hachage Bcrypt des mots de passe.</a:t>
            </a:r>
          </a:p>
          <a:p>
            <a:pPr algn="just" marL="0" indent="0" lvl="0">
              <a:lnSpc>
                <a:spcPts val="2338"/>
              </a:lnSpc>
            </a:pPr>
          </a:p>
          <a:p>
            <a:pPr algn="just" marL="0" indent="0" lvl="0">
              <a:lnSpc>
                <a:spcPts val="233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74145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05996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Console 6 onglets : Vue d'ensemble, Réservations, Tournois, Ludothèque, Stocks Boutique, Messages support.</a:t>
            </a:r>
          </a:p>
          <a:p>
            <a:pPr algn="just" marL="0" indent="0" lvl="0">
              <a:lnSpc>
                <a:spcPts val="2338"/>
              </a:lnSpc>
            </a:pPr>
          </a:p>
          <a:p>
            <a:pPr algn="just" marL="0" indent="0" lvl="0">
              <a:lnSpc>
                <a:spcPts val="2338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412889"/>
            <a:ext cx="6935284" cy="185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8"/>
              </a:lnSpc>
            </a:pPr>
            <a:r>
              <a:rPr lang="en-US" b="true" sz="9428" spc="-46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Cartographie du site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96985"/>
            <a:ext cx="6393149" cy="305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48"/>
              </a:lnSpc>
            </a:pPr>
            <a:r>
              <a:rPr lang="en-US" b="true" sz="23987" spc="-11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 DWWM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Cartographie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6483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6483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13116"/>
            <a:ext cx="6768973" cy="142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422" spc="85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Schéma Relationnel MySQL (MCD / MLD) :</a:t>
            </a:r>
          </a:p>
          <a:p>
            <a:pPr algn="just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422" spc="85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8 tables normalisées : users, reservations, tournaments, tournament_registrations, boardgames, events, messages...</a:t>
            </a:r>
          </a:p>
          <a:p>
            <a:pPr algn="just" marL="0" indent="0" lvl="0">
              <a:lnSpc>
                <a:spcPts val="1920"/>
              </a:lnSpc>
              <a:spcBef>
                <a:spcPct val="0"/>
              </a:spcBef>
            </a:pPr>
            <a:r>
              <a:rPr lang="en-US" sz="1422" spc="85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Intégrité référentielle stricte : Clés étrangères avec ON DELETE CASCADE garantissant zéro donnée orpheline.</a:t>
            </a:r>
          </a:p>
          <a:p>
            <a:r>
              <a:rPr sz="1422">
                <a:solidFill>
                  <a:srgbClr val="343434"/>
                </a:solidFill>
                <a:latin typeface="TT Hoves"/>
              </a:rPr>
              <a:t>• Clés uniques et index composites : Prévention native des doublons d'inscriptions et de réservations.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2209662"/>
            <a:ext cx="7639050" cy="187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242"/>
              </a:lnSpc>
            </a:pPr>
            <a:r>
              <a:rPr lang="en-US" b="true" sz="6897" spc="-33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Modélisation des Données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96987" y="7869929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96987" y="2102102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41456" y="4986015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7110138"/>
            <a:ext cx="7498697" cy="342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36"/>
              </a:lnSpc>
            </a:pPr>
            <a:r>
              <a:rPr lang="en-US" b="true" sz="26953" spc="-132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25150"/>
            <a:ext cx="8115300" cy="220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79"/>
              </a:lnSpc>
            </a:pPr>
            <a:r>
              <a:rPr lang="en-US" b="true" sz="8741" spc="-41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Réservation Anti-Surbooking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934075"/>
            <a:ext cx="7707571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 Besoin Métier : Gérer 4 tables physiques avec zéro doublon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Contrainte matérielle absolue : Le café dispose exactement de 4 tables physiques (16 places assises).</a:t>
            </a:r>
          </a:p>
          <a:p>
            <a:r>
              <a:rPr sz="1999">
                <a:solidFill>
                  <a:srgbClr val="000000"/>
                </a:solidFill>
                <a:latin typeface="TT Hoves"/>
              </a:rPr>
              <a:t>Le défi : Permettre une réservation autonome en ligne 24/7 tout en garantissant mathématiquement qu'aucune table ne soit sur-réservée.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66469" y="5556794"/>
            <a:ext cx="8217790" cy="4817439"/>
            <a:chOff x="0" y="0"/>
            <a:chExt cx="2164356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56" cy="1268790"/>
            </a:xfrm>
            <a:custGeom>
              <a:avLst/>
              <a:gdLst/>
              <a:ahLst/>
              <a:cxnLst/>
              <a:rect r="r" b="b" t="t" l="l"/>
              <a:pathLst>
                <a:path h="1268790" w="2164356">
                  <a:moveTo>
                    <a:pt x="0" y="0"/>
                  </a:moveTo>
                  <a:lnTo>
                    <a:pt x="2164356" y="0"/>
                  </a:lnTo>
                  <a:lnTo>
                    <a:pt x="2164356" y="1268790"/>
                  </a:lnTo>
                  <a:lnTo>
                    <a:pt x="0" y="126879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64356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719168" y="7646577"/>
            <a:ext cx="6265091" cy="317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46"/>
              </a:lnSpc>
            </a:pPr>
            <a:r>
              <a:rPr lang="en-US" b="true" sz="24942" spc="-1222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0507" y="5905500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2233" y="5905500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851713" y="5905500"/>
            <a:ext cx="1927462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365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Solution Technique : Algorithme d'Intersection Temporelle SQL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Requête SQL paramétrée vérifiant le nombre de réservations actives sur le créneau demandé.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Attribution automatique séquentielle de la première table disponible (Table 1 à Table 4).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Rejet préventif avec code HTTP 400 et message explicite dès que les 4 tables sont saturées.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Retour visuel immédiat : Toast de confirmation et actualisation dynamique de la jauge côté client.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1822037"/>
            <a:ext cx="7639050" cy="265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922"/>
              </a:lnSpc>
            </a:pPr>
            <a:r>
              <a:rPr lang="en-US" b="true" sz="6593" spc="-32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Solution technique : Réservation anti-surbooking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49343" y="7803235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43" y="203540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7164512"/>
            <a:ext cx="7498697" cy="328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218"/>
              </a:lnSpc>
            </a:pPr>
            <a:r>
              <a:rPr lang="en-US" b="true" sz="25763" spc="-126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Difficultés Rencontrées :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Gestion des chevauchements horaires complexes et risque d'accès simultanés concurrents.</a:t>
            </a:r>
          </a:p>
          <a:p>
            <a:r>
              <a:rPr sz="1999">
                <a:solidFill>
                  <a:srgbClr val="343434"/>
                </a:solidFill>
                <a:latin typeface="TT Hoves"/>
              </a:rPr>
              <a:t>Résolution &amp; Robustesse :</a:t>
            </a:r>
          </a:p>
          <a:p>
            <a:r>
              <a:rPr sz="1999">
                <a:solidFill>
                  <a:srgbClr val="343434"/>
                </a:solidFill>
                <a:latin typeface="TT Hoves"/>
              </a:rPr>
              <a:t>• Algorithme centralisé côté backend dans reservation.controller.js avec requêtes préparées atomiques.</a:t>
            </a:r>
          </a:p>
          <a:p>
            <a:r>
              <a:rPr sz="1999">
                <a:solidFill>
                  <a:srgbClr val="343434"/>
                </a:solidFill>
                <a:latin typeface="TT Hoves"/>
              </a:rPr>
              <a:t>• Résultat : Zéro surbooking possible, intégrité des 4 tables 100% garantie.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2075201"/>
            <a:ext cx="7639050" cy="217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14"/>
              </a:lnSpc>
            </a:pPr>
            <a:r>
              <a:rPr lang="en-US" b="true" sz="8014" spc="-39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Défi &amp; Résolution Réservation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61038" y="7824456"/>
            <a:ext cx="3117321" cy="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 — Soutenance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61038" y="2056628"/>
            <a:ext cx="3117321" cy="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 — Titre Pro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5508" y="4940542"/>
            <a:ext cx="1406261" cy="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6890226"/>
            <a:ext cx="7498697" cy="398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38"/>
              </a:lnSpc>
            </a:pPr>
            <a:r>
              <a:rPr lang="en-US" b="true" sz="31317" spc="-153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81744"/>
            <a:ext cx="8115300" cy="251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4"/>
              </a:lnSpc>
            </a:pPr>
            <a:r>
              <a:rPr lang="en-US" b="true" sz="9932" spc="-466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Messagerie Support Client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934075"/>
            <a:ext cx="7707571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 Besoin Métier : Canal de support direct et asynchrone client-gérant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Les joueurs et participants aux tournois ont des questions fréquentes (matériel, règles, déroulement).</a:t>
            </a:r>
          </a:p>
          <a:p>
            <a:r>
              <a:rPr sz="1999">
                <a:solidFill>
                  <a:srgbClr val="000000"/>
                </a:solidFill>
                <a:latin typeface="TT Hoves"/>
              </a:rPr>
              <a:t>Enjeu : Éviter les formulaires de contact isolés 'one-way' perdus par email, offrir un fil de discussion direct et rattaché au compte membre.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66469" y="5556794"/>
            <a:ext cx="8217790" cy="4817439"/>
            <a:chOff x="0" y="0"/>
            <a:chExt cx="2164356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56" cy="1268790"/>
            </a:xfrm>
            <a:custGeom>
              <a:avLst/>
              <a:gdLst/>
              <a:ahLst/>
              <a:cxnLst/>
              <a:rect r="r" b="b" t="t" l="l"/>
              <a:pathLst>
                <a:path h="1268790" w="2164356">
                  <a:moveTo>
                    <a:pt x="0" y="0"/>
                  </a:moveTo>
                  <a:lnTo>
                    <a:pt x="2164356" y="0"/>
                  </a:lnTo>
                  <a:lnTo>
                    <a:pt x="2164356" y="1268790"/>
                  </a:lnTo>
                  <a:lnTo>
                    <a:pt x="0" y="126879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64356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719168" y="7472267"/>
            <a:ext cx="6265091" cy="361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41"/>
              </a:lnSpc>
            </a:pPr>
            <a:r>
              <a:rPr lang="en-US" b="true" sz="28342" spc="-1388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0507" y="5915025"/>
            <a:ext cx="311732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2233" y="5915025"/>
            <a:ext cx="140626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Feature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1713" y="5915025"/>
            <a:ext cx="192746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Communication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Solution Technique : Architecture Conversationnelle Multi-Tours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Interface membre : Composant Profile.jsx avec historique chronologique complet et bouton 'Répondre'.</a:t>
            </a:r>
          </a:p>
          <a:p>
            <a:r>
              <a:rPr sz="1999">
                <a:solidFill>
                  <a:srgbClr val="343434"/>
                </a:solidFill>
                <a:latin typeface="TT Hoves"/>
              </a:rPr>
              <a:t>• Console administrateur : Onglet Messages dédié avec badge NOUVEAU et formulaire de réponse rapide.</a:t>
            </a:r>
          </a:p>
          <a:p>
            <a:r>
              <a:rPr sz="1999">
                <a:solidFill>
                  <a:srgbClr val="343434"/>
                </a:solidFill>
                <a:latin typeface="TT Hoves"/>
              </a:rPr>
              <a:t>• Persistance SQL : Table messages (id, sender, recipient, content, created_at, is_read).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2198203"/>
            <a:ext cx="7639050" cy="191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455"/>
              </a:lnSpc>
            </a:pPr>
            <a:r>
              <a:rPr lang="en-US" b="true" sz="7100" spc="-34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Messagerie — Solution Technique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49343" y="7803235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 — DWWM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43" y="203540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7081918"/>
            <a:ext cx="7498697" cy="351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82"/>
              </a:lnSpc>
            </a:pPr>
            <a:r>
              <a:rPr lang="en-US" b="true" sz="27747" spc="-135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399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Difficultés Rencontrées :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Notification immédiate du gérant et synchronisation des pastilles sans rechargement de page.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Résolution &amp; Robustesse :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Émission d'événements custom 'messages_updated' et pastille dynamique adminUnreadCount dans le Header.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Résultat : Réactivité optimale de l'équipe, traçabilité des échanges et zéro question oubliée.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1868749"/>
            <a:ext cx="7639050" cy="261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173"/>
              </a:lnSpc>
            </a:pPr>
            <a:r>
              <a:rPr lang="en-US" b="true" sz="9688" spc="-47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Difficulté &amp; Résolution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49343" y="7803235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43" y="203540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Cicados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6550836"/>
            <a:ext cx="7498697" cy="48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9"/>
              </a:lnSpc>
            </a:pPr>
            <a:r>
              <a:rPr lang="en-US" b="true" sz="37861" spc="-18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01682"/>
            <a:ext cx="8115300" cy="335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71"/>
              </a:lnSpc>
            </a:pPr>
            <a:r>
              <a:rPr lang="en-US" b="true" sz="13269" spc="-62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 Feature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934075"/>
            <a:ext cx="7707571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Importation BoardGameGeek &amp; Boutique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Besoin &amp; Enjeux Métier :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Catalogue à jour : Données de référence BGG (jaquettes, nombre de joueurs, durée, complexité).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Gain de temps : Suppression de la saisie manuelle fastidieuse de centaines de jeux de société.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Double usage : Consultation en ludothèque et gestion des stocks de vente en boutique.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• Défi : Traiter un flux XML2 externe depuis une Single Page Application React.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480781" y="-7939543"/>
            <a:ext cx="15177319" cy="15177319"/>
          </a:xfrm>
          <a:custGeom>
            <a:avLst/>
            <a:gdLst/>
            <a:ahLst/>
            <a:cxnLst/>
            <a:rect r="r" b="b" t="t" l="l"/>
            <a:pathLst>
              <a:path h="15177319" w="15177319">
                <a:moveTo>
                  <a:pt x="0" y="0"/>
                </a:moveTo>
                <a:lnTo>
                  <a:pt x="15177319" y="0"/>
                </a:lnTo>
                <a:lnTo>
                  <a:pt x="15177319" y="15177319"/>
                </a:lnTo>
                <a:lnTo>
                  <a:pt x="0" y="1517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766469" y="5556794"/>
            <a:ext cx="8217790" cy="4817439"/>
            <a:chOff x="0" y="0"/>
            <a:chExt cx="2164356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4356" cy="1268790"/>
            </a:xfrm>
            <a:custGeom>
              <a:avLst/>
              <a:gdLst/>
              <a:ahLst/>
              <a:cxnLst/>
              <a:rect r="r" b="b" t="t" l="l"/>
              <a:pathLst>
                <a:path h="1268790" w="2164356">
                  <a:moveTo>
                    <a:pt x="0" y="0"/>
                  </a:moveTo>
                  <a:lnTo>
                    <a:pt x="2164356" y="0"/>
                  </a:lnTo>
                  <a:lnTo>
                    <a:pt x="2164356" y="1268790"/>
                  </a:lnTo>
                  <a:lnTo>
                    <a:pt x="0" y="1268790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64356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719168" y="6985176"/>
            <a:ext cx="6265091" cy="48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9"/>
              </a:lnSpc>
            </a:pPr>
            <a:r>
              <a:rPr lang="en-US" b="true" sz="37861" spc="-1855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0507" y="5905500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2233" y="5905500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851713" y="5905500"/>
            <a:ext cx="1927462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Fiche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29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Solution Technique : Proxy Express &amp; Parser XML vers JSON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Proxy Node.js : Le serveur backend interroge l'API BGG XML2 pour contourner les blocages CORS.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Conversion à la volée : fast-xml-parser transforme le flux XML brut en objets JSON structurés.</a:t>
            </a:r>
          </a:p>
          <a:p>
            <a:r>
              <a:rPr sz="1999">
                <a:solidFill>
                  <a:srgbClr val="343434"/>
                </a:solidFill>
                <a:latin typeface="TT Hoves"/>
              </a:rPr>
              <a:t>• Pipeline asynchrone : Extraction propre des métadonnées et stockage en base de données MySQL.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2198203"/>
            <a:ext cx="7639050" cy="191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455"/>
              </a:lnSpc>
            </a:pPr>
            <a:r>
              <a:rPr lang="en-US" b="true" sz="7100" spc="-34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 Feature 3 — Solution Technique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61038" y="7824456"/>
            <a:ext cx="3117321" cy="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 — Soutenance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61038" y="2056628"/>
            <a:ext cx="3117321" cy="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Titre Pro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5508" y="4940542"/>
            <a:ext cx="1406261" cy="40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394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7081918"/>
            <a:ext cx="7498697" cy="351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82"/>
              </a:lnSpc>
            </a:pPr>
            <a:r>
              <a:rPr lang="en-US" b="true" sz="27747" spc="-135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399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Difficultés Rencontrées :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Lenteurs chroniques et erreurs 504 Gateway Timeout de l'API publique BoardGameGeek.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Résolution &amp; Tolérance aux Pannes (Failover) :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Mécanisme de basculement automatique sur fichier de secours local JSON (boardgames_backup.json).</a:t>
            </a:r>
          </a:p>
          <a:p>
            <a:r>
              <a:rPr sz="1998">
                <a:solidFill>
                  <a:srgbClr val="343434"/>
                </a:solidFill>
                <a:latin typeface="TT Hoves"/>
              </a:rPr>
              <a:t>• Résultat : Continuité de service 100% assurée pour les clients et l'administration même en cas de panne de l'API externe.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1868749"/>
            <a:ext cx="7639050" cy="261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173"/>
              </a:lnSpc>
            </a:pPr>
            <a:r>
              <a:rPr lang="en-US" b="true" sz="9688" spc="-47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Difficulté &amp; Résolution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73252" y="7836668"/>
            <a:ext cx="311732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73252" y="2068842"/>
            <a:ext cx="311732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Pro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6550836"/>
            <a:ext cx="7498697" cy="48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9"/>
              </a:lnSpc>
            </a:pPr>
            <a:r>
              <a:rPr lang="en-US" b="true" sz="37861" spc="-185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16809" y="7842272"/>
            <a:ext cx="6393149" cy="236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68"/>
              </a:lnSpc>
            </a:pPr>
            <a:r>
              <a:rPr lang="en-US" b="true" sz="18583" spc="-91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20/30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26789" y="-2986203"/>
            <a:ext cx="9584989" cy="9584989"/>
          </a:xfrm>
          <a:custGeom>
            <a:avLst/>
            <a:gdLst/>
            <a:ahLst/>
            <a:cxnLst/>
            <a:rect r="r" b="b" t="t" l="l"/>
            <a:pathLst>
              <a:path h="9584989" w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3209977">
            <a:off x="9982257" y="7689589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101836" y="1509155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Boardgames : Import BGG, fiches jeux détaillées et gestion des stocks boutique.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01836" y="4295902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Messages : Support client multi-tours, statuts de lecture et réponses rapides.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01836" y="7045319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Tournois : Suivi des inscrits TCG, quotas (8 max) et affichage des participants.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58475" y="1509155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Users : Gestion des comptes membres et administrateurs, rôles et conformité RGPD.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58475" y="4292494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Reservations : Grille temps réel des 4 tables, calendrier et annulations en 1 clic.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58475" y="7069451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Sécurité : Routes protégées par adminMiddleware et contrôle strict des privilèges.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95244" y="4297322"/>
            <a:ext cx="4297511" cy="11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64"/>
              </a:lnSpc>
              <a:spcBef>
                <a:spcPct val="0"/>
              </a:spcBef>
            </a:pPr>
            <a:r>
              <a:rPr lang="en-US" b="true" sz="460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Console Administration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62365" y="6150211"/>
            <a:ext cx="3563270" cy="79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9"/>
              </a:lnSpc>
            </a:pPr>
            <a:r>
              <a:rPr lang="en-US" sz="2897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Gestion globale plateforme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9697" y="2060425"/>
            <a:ext cx="1786853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9697" y="4785882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09697" y="7566697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02381" y="2032747"/>
            <a:ext cx="1999455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2381" y="4758204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02381" y="7539018"/>
            <a:ext cx="2628856" cy="7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3"/>
              </a:lnSpc>
            </a:pPr>
            <a:r>
              <a:rPr lang="en-US" b="true" sz="6216" spc="-3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79949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55095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30850"/>
            <a:ext cx="264649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Backend Node.js / Express : API REST modulaire en couches (Routes, Contrôleurs, Modèles SQL) avec découpage MVC strict.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05996"/>
            <a:ext cx="273286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Frontend React 18 SPA : Interface utilisateur réactive, composants modulaires et navigation fluide sans rechargement.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79949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30850"/>
            <a:ext cx="2747991" cy="116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Base de données MySQL : Structure relationnelle solide, contraintes d'intégrité (ON DELETE CASCADE) et requêtes préparées.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55095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05996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Pourquoi cette stack ? Écosystème JavaScript unifié (Fullstack JS), maintenabilité éprouvée et modularité.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382545"/>
            <a:ext cx="6935284" cy="193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071"/>
              </a:lnSpc>
            </a:pPr>
            <a:r>
              <a:rPr lang="en-US" b="true" sz="9821" spc="-48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Architecture technique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46969"/>
            <a:ext cx="6393149" cy="318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487"/>
              </a:lnSpc>
            </a:pPr>
            <a:r>
              <a:rPr lang="en-US" b="true" sz="24986" spc="-122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 DWWM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Architecture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83888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83888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72061" y="1025292"/>
            <a:ext cx="5587239" cy="2662922"/>
            <a:chOff x="0" y="0"/>
            <a:chExt cx="2065940" cy="984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72061" y="3808631"/>
            <a:ext cx="5587239" cy="2662922"/>
            <a:chOff x="0" y="0"/>
            <a:chExt cx="2065940" cy="9846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72061" y="6595378"/>
            <a:ext cx="5587239" cy="2662922"/>
            <a:chOff x="0" y="0"/>
            <a:chExt cx="2065940" cy="9846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126789" y="-2986203"/>
            <a:ext cx="9584989" cy="9584989"/>
          </a:xfrm>
          <a:custGeom>
            <a:avLst/>
            <a:gdLst/>
            <a:ahLst/>
            <a:cxnLst/>
            <a:rect r="r" b="b" t="t" l="l"/>
            <a:pathLst>
              <a:path h="9584989" w="9584989">
                <a:moveTo>
                  <a:pt x="0" y="0"/>
                </a:moveTo>
                <a:lnTo>
                  <a:pt x="9584989" y="0"/>
                </a:lnTo>
                <a:lnTo>
                  <a:pt x="9584989" y="9584989"/>
                </a:lnTo>
                <a:lnTo>
                  <a:pt x="0" y="958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5587239" cy="2662922"/>
            <a:chOff x="0" y="0"/>
            <a:chExt cx="2065940" cy="984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812039"/>
            <a:ext cx="5587239" cy="2662922"/>
            <a:chOff x="0" y="0"/>
            <a:chExt cx="2065940" cy="9846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598786"/>
            <a:ext cx="5587239" cy="2662922"/>
            <a:chOff x="0" y="0"/>
            <a:chExt cx="2065940" cy="9846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5940" cy="984643"/>
            </a:xfrm>
            <a:custGeom>
              <a:avLst/>
              <a:gdLst/>
              <a:ahLst/>
              <a:cxnLst/>
              <a:rect r="r" b="b" t="t" l="l"/>
              <a:pathLst>
                <a:path h="984643" w="2065940">
                  <a:moveTo>
                    <a:pt x="0" y="0"/>
                  </a:moveTo>
                  <a:lnTo>
                    <a:pt x="2065940" y="0"/>
                  </a:lnTo>
                  <a:lnTo>
                    <a:pt x="2065940" y="984643"/>
                  </a:lnTo>
                  <a:lnTo>
                    <a:pt x="0" y="984643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65940" cy="1022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7900054">
            <a:off x="7348622" y="2133028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2700000">
            <a:off x="10017119" y="214449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3209977">
            <a:off x="9982257" y="7689589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1" y="0"/>
                </a:lnTo>
                <a:lnTo>
                  <a:pt x="1012981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7866361">
            <a:off x="7243302" y="7665457"/>
            <a:ext cx="1012981" cy="454921"/>
          </a:xfrm>
          <a:custGeom>
            <a:avLst/>
            <a:gdLst/>
            <a:ahLst/>
            <a:cxnLst/>
            <a:rect r="r" b="b" t="t" l="l"/>
            <a:pathLst>
              <a:path h="454921" w="1012981">
                <a:moveTo>
                  <a:pt x="0" y="0"/>
                </a:moveTo>
                <a:lnTo>
                  <a:pt x="1012982" y="0"/>
                </a:lnTo>
                <a:lnTo>
                  <a:pt x="1012982" y="454921"/>
                </a:lnTo>
                <a:lnTo>
                  <a:pt x="0" y="454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101836" y="1509155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Uploads Sécurisés : Middleware Multer avec contrôle strict des types MIME et renommage aléatoire.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01836" y="4295902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Sécurité CORS : Configuration stricte restreignant l'accès API à l'origine du frontend Vite.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01836" y="7045319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  <a:spcBef>
                <a:spcPct val="0"/>
              </a:spcBef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Conformité RGPD : Privacy by Design, minimisation des données et droit à l'oubli automatique.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58475" y="1509155"/>
            <a:ext cx="2816627" cy="118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Authentification JWT : Tokens stateless signés HMAC-SHA256 avec clé secrète (.env), expiration à 24h.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58475" y="4292494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Hachage Bcrypt : Mots de passe chiffrés avec sel aléatoire (10 rounds), résistant aux attaques brute-force.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58475" y="7069451"/>
            <a:ext cx="2816627" cy="94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6"/>
              </a:lnSpc>
            </a:pPr>
            <a:r>
              <a:rPr lang="en-US" sz="1299" strike="noStrike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Requêtes Préparées : Placeholders paramétrés ? neutralisant très efficacement le risque d'injection SQL.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95244" y="3983179"/>
            <a:ext cx="4297511" cy="182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82"/>
              </a:lnSpc>
              <a:spcBef>
                <a:spcPct val="0"/>
              </a:spcBef>
            </a:pPr>
            <a:r>
              <a:rPr lang="en-US" b="true" sz="71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Sécurité</a:t>
            </a:r>
          </a:p>
          <a:p>
            <a:pPr algn="ctr" marL="0" indent="0" lvl="0">
              <a:lnSpc>
                <a:spcPts val="6982"/>
              </a:lnSpc>
              <a:spcBef>
                <a:spcPct val="0"/>
              </a:spcBef>
            </a:pPr>
            <a:r>
              <a:rPr lang="en-US" b="true" sz="7198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&amp; OWASP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62365" y="6150211"/>
            <a:ext cx="3563270" cy="79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9"/>
              </a:lnSpc>
            </a:pPr>
            <a:r>
              <a:rPr lang="en-US" sz="2897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Mesures clés appliquées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9697" y="1879073"/>
            <a:ext cx="1786853" cy="123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0"/>
              </a:lnSpc>
            </a:pPr>
            <a:r>
              <a:rPr lang="en-US" b="true" sz="9723" spc="-47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9697" y="4604530"/>
            <a:ext cx="2628856" cy="123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0"/>
              </a:lnSpc>
            </a:pPr>
            <a:r>
              <a:rPr lang="en-US" b="true" sz="9723" spc="-47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09697" y="7385345"/>
            <a:ext cx="2628856" cy="123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0"/>
              </a:lnSpc>
            </a:pPr>
            <a:r>
              <a:rPr lang="en-US" b="true" sz="9723" spc="-47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02381" y="1851394"/>
            <a:ext cx="1999455" cy="123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0"/>
              </a:lnSpc>
            </a:pPr>
            <a:r>
              <a:rPr lang="en-US" b="true" sz="9723" spc="-47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02381" y="4576851"/>
            <a:ext cx="2628856" cy="123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0"/>
              </a:lnSpc>
            </a:pPr>
            <a:r>
              <a:rPr lang="en-US" b="true" sz="9723" spc="-47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2381" y="7357666"/>
            <a:ext cx="2628856" cy="1233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40"/>
              </a:lnSpc>
            </a:pPr>
            <a:r>
              <a:rPr lang="en-US" b="true" sz="9723" spc="-47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79949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55095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30850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Tests E2E Automatisés : Suite Puppeteer pilotant Chrome headless simulant le parcours critique (Login ➔ Réservation ➔ Toast).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05996"/>
            <a:ext cx="273286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Réduction du Risque : Réduction forte des risques de régression avant mise en production (exécution complète en 28s).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79949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30850"/>
            <a:ext cx="2747991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Performance SPA : Navigation réactive sans rechargement de page, état React optimisé et composants légers.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55095"/>
            <a:ext cx="2197323" cy="4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63"/>
              </a:lnSpc>
            </a:pPr>
            <a:r>
              <a:rPr lang="en-US" b="true" sz="355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05996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Optimisation Réseau : Mise en cache des données BGG, requêtes ciblées et temps de réponse API &lt; 50ms.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409895"/>
            <a:ext cx="6935284" cy="186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859"/>
              </a:lnSpc>
            </a:pPr>
            <a:r>
              <a:rPr lang="en-US" b="true" sz="9526" spc="-46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Performance &amp; Tests E2E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99491"/>
            <a:ext cx="6393149" cy="30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83"/>
              </a:lnSpc>
            </a:pPr>
            <a:r>
              <a:rPr lang="en-US" b="true" sz="24237" spc="-118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Titre Pro DWWM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83888"/>
            <a:ext cx="311732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83888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–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83888"/>
            <a:ext cx="1406261" cy="31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–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58519" y="2078942"/>
            <a:ext cx="4609698" cy="4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4"/>
              </a:lnSpc>
            </a:pPr>
            <a:r>
              <a:rPr lang="en-US" b="true" sz="329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Thème Dark &amp; Contraste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58519" y="5654088"/>
            <a:ext cx="3789369" cy="4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4"/>
              </a:lnSpc>
            </a:pPr>
            <a:r>
              <a:rPr lang="en-US" b="true" sz="329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Typographie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58519" y="2929842"/>
            <a:ext cx="2646492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Fond sombre (#05040a) et texte blanc (#ffffff) : Ratio de contraste de 14:1 (très au-delà du seuil WCAG 4.5:1).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58519" y="6504988"/>
            <a:ext cx="273286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Plus Jakarta Sans : typographie moderne, géométrique et lisible. Hiérarchie claire des titres et paragraphes. Accessibilité visuelle optimisée.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03723" y="2078942"/>
            <a:ext cx="3398572" cy="4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4"/>
              </a:lnSpc>
            </a:pPr>
            <a:r>
              <a:rPr lang="en-US" b="true" sz="329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Accent #F4AF23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03723" y="2929842"/>
            <a:ext cx="2747991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Boutons jaune ambré avec texte sombre : Ratio de contraste 8.2:1 (conforme norme WCAG AAA).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6840899" y="-10914932"/>
            <a:ext cx="42781663" cy="27059402"/>
          </a:xfrm>
          <a:custGeom>
            <a:avLst/>
            <a:gdLst/>
            <a:ahLst/>
            <a:cxnLst/>
            <a:rect r="r" b="b" t="t" l="l"/>
            <a:pathLst>
              <a:path h="27059402" w="42781663">
                <a:moveTo>
                  <a:pt x="0" y="0"/>
                </a:moveTo>
                <a:lnTo>
                  <a:pt x="42781663" y="0"/>
                </a:lnTo>
                <a:lnTo>
                  <a:pt x="42781663" y="27059402"/>
                </a:lnTo>
                <a:lnTo>
                  <a:pt x="0" y="27059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03723" y="5654088"/>
            <a:ext cx="4784397" cy="44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4"/>
              </a:lnSpc>
            </a:pPr>
            <a:r>
              <a:rPr lang="en-US" b="true" sz="329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Accessibilité A11y / RGAA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03723" y="6504988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Formulaires avec labels htmlFor/id, focus clavier visible (:focus-visible), textes alternatifs alt descriptifs.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98774" y="2154593"/>
            <a:ext cx="273982" cy="245024"/>
            <a:chOff x="0" y="0"/>
            <a:chExt cx="91718" cy="8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98774" y="5729739"/>
            <a:ext cx="273982" cy="245024"/>
            <a:chOff x="0" y="0"/>
            <a:chExt cx="91718" cy="820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686814" y="5729739"/>
            <a:ext cx="273982" cy="245024"/>
            <a:chOff x="0" y="0"/>
            <a:chExt cx="91718" cy="820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86814" y="2154593"/>
            <a:ext cx="273982" cy="245024"/>
            <a:chOff x="0" y="0"/>
            <a:chExt cx="91718" cy="82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822665" y="-795948"/>
            <a:ext cx="7178388" cy="11878896"/>
            <a:chOff x="0" y="0"/>
            <a:chExt cx="1890604" cy="31285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-5400000">
            <a:off x="-2381921" y="4008787"/>
            <a:ext cx="10287000" cy="226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01"/>
              </a:lnSpc>
            </a:pPr>
            <a:r>
              <a:rPr lang="en-US" b="true" sz="16901" spc="-811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Cicados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707284" y="-238195"/>
            <a:ext cx="3677731" cy="282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1"/>
              </a:lnSpc>
            </a:pPr>
            <a:r>
              <a:rPr lang="en-US" b="true" sz="22225" spc="-108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6356" y="4903591"/>
            <a:ext cx="6768973" cy="332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Support Bilingue Français / Anglais (i18next) :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Bascule instantanée de la langue sans aucun rechargement de page.</a:t>
            </a:r>
          </a:p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Fichiers de traduction JSON structurés (locales/fr.json et locales/en.json).</a:t>
            </a:r>
          </a:p>
          <a:p>
            <a:r>
              <a:rPr sz="1998">
                <a:solidFill>
                  <a:srgbClr val="343434"/>
                </a:solidFill>
                <a:latin typeface="TT Hoves"/>
              </a:rPr>
              <a:t>• Accueil optimal des joueurs internationaux et touristes lors des grands tournois de cartes TCG.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6356" y="2669459"/>
            <a:ext cx="7639050" cy="97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481"/>
              </a:lnSpc>
            </a:pPr>
            <a:r>
              <a:rPr lang="en-US" b="true" sz="7125" spc="-34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Internationalisation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849343" y="7803235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849343" y="203540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6188" y="4919322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7065781"/>
            <a:ext cx="7498697" cy="3544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71"/>
              </a:lnSpc>
            </a:pPr>
            <a:r>
              <a:rPr lang="en-US" b="true" sz="27842" spc="-136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26789" y="-298620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1" y="0"/>
                </a:lnTo>
                <a:lnTo>
                  <a:pt x="7624731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5916" y="4260140"/>
            <a:ext cx="10014901" cy="90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785"/>
              </a:lnSpc>
            </a:pPr>
            <a:r>
              <a:rPr lang="en-US" b="true" sz="6995" spc="-33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Compétences Titre Pro DWWM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1343" y="5454827"/>
            <a:ext cx="7615182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Activité 1 (Front-end) : Maquettage, intégration responsive et développement d'une SPA React dynamique.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Activité 2 (Back-end) : Conception base relationnelle MySQL, développement d'une API REST Express sécurisée.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• Qualité &amp; Sécurité : Application des normes OWASP, conformité RGPD, accessibilité WCAG et recette de tests validée.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71343" y="1565472"/>
            <a:ext cx="7315066" cy="25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8939"/>
              </a:lnSpc>
            </a:pPr>
            <a:r>
              <a:rPr lang="en-US" b="true" sz="19524" spc="-93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100%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09612" y="-666477"/>
            <a:ext cx="7178388" cy="11878896"/>
            <a:chOff x="0" y="0"/>
            <a:chExt cx="1890604" cy="312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-5400000">
            <a:off x="15959708" y="8154027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 — DWWM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15959708" y="2386200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Bilan Global</a:t>
            </a:r>
          </a:p>
        </p:txBody>
      </p:sp>
      <p:sp>
        <p:nvSpPr>
          <p:cNvPr name="TextBox 11" id="11"/>
          <p:cNvSpPr txBox="true"/>
          <p:nvPr/>
        </p:nvSpPr>
        <p:spPr>
          <a:xfrm rot="-5400000">
            <a:off x="16815239" y="5270114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80136" y="7140837"/>
            <a:ext cx="6265091" cy="482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9"/>
              </a:lnSpc>
            </a:pPr>
            <a:r>
              <a:rPr lang="en-US" b="true" sz="37861" spc="-1855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98999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74145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40375"/>
            <a:ext cx="2646492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Algorithmes Temporels : Détection des chevauchements de créneaux résolue par des requêtes SQL ciblées et atomiques.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15521"/>
            <a:ext cx="2732862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Résilience API Tierce : Pannes de BoardGameGeek surmontées grâce au basculement automatique sur sauvegarde JSON locale.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98999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40375"/>
            <a:ext cx="274799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État React &amp; Modales : Résolution des propagations d'événements (fix popup Pokémon) et synchronisation des pastilles.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74145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15521"/>
            <a:ext cx="2646492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0"/>
              </a:lnSpc>
            </a:pPr>
            <a:r>
              <a:rPr lang="en-US" sz="150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Rigueur Méthodologique : Valeur inestimable d'une conception préalable solide (MCD, Wireframes) pour coder sereinement.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401252"/>
            <a:ext cx="6935284" cy="187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838"/>
              </a:lnSpc>
            </a:pPr>
            <a:r>
              <a:rPr lang="en-US" b="true" sz="9497" spc="-46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Retour d'Expérience &amp; Difficultés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81658"/>
            <a:ext cx="6393149" cy="308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13"/>
              </a:lnSpc>
            </a:pPr>
            <a:r>
              <a:rPr lang="en-US" b="true" sz="24163" spc="-1184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27/30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6483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6483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07223" y="1698999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07223" y="5274145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07223" y="2530850"/>
            <a:ext cx="2646492" cy="205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Sécurité Tokens OWASP : Migration vers des cookies HttpOnly + Refresh Token pour immuniser les sessions contre le vol XSS.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7223" y="6105996"/>
            <a:ext cx="273286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Paiement en ligne Stripe : Règlement sécurisé des acomptes de réservation et frais de tournois (tokenisation PCI-DSS).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6921" y="1698999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921" y="2530850"/>
            <a:ext cx="2747991" cy="176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WebSockets Socket.io : Actualisation en temps réel des jauges de tables et chat support sans polling HTTP.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921" y="5274145"/>
            <a:ext cx="2197323" cy="67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46"/>
              </a:lnSpc>
            </a:pPr>
            <a:r>
              <a:rPr lang="en-US" b="true" sz="499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921" y="6105996"/>
            <a:ext cx="2646492" cy="146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1498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Application Mobile (React Native) &amp; Export PDF : Récépissés avec QR Code et notifications push des tournois.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7478" y="1755600"/>
            <a:ext cx="273982" cy="245024"/>
            <a:chOff x="0" y="0"/>
            <a:chExt cx="91718" cy="820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7478" y="5330746"/>
            <a:ext cx="273982" cy="245024"/>
            <a:chOff x="0" y="0"/>
            <a:chExt cx="91718" cy="820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200012" y="5330746"/>
            <a:ext cx="273982" cy="245024"/>
            <a:chOff x="0" y="0"/>
            <a:chExt cx="91718" cy="820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200012" y="1755600"/>
            <a:ext cx="273982" cy="245024"/>
            <a:chOff x="0" y="0"/>
            <a:chExt cx="91718" cy="82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24016" y="6409895"/>
            <a:ext cx="6935284" cy="186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859"/>
              </a:lnSpc>
            </a:pPr>
            <a:r>
              <a:rPr lang="en-US" b="true" sz="9526" spc="-46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Perspectives V2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80286" y="99491"/>
            <a:ext cx="6393149" cy="30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783"/>
              </a:lnSpc>
            </a:pPr>
            <a:r>
              <a:rPr lang="en-US" b="true" sz="24237" spc="-118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V2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141979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Perspectives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 V2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85339" y="9464838"/>
            <a:ext cx="311732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Évolutions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84590" y="946483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30761" y="9464838"/>
            <a:ext cx="1406261" cy="44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7"/>
              </a:lnSpc>
              <a:spcBef>
                <a:spcPct val="0"/>
              </a:spcBef>
            </a:pPr>
            <a:r>
              <a:rPr lang="en-US" sz="2598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—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05628" y="-3991568"/>
            <a:ext cx="9598990" cy="9598990"/>
          </a:xfrm>
          <a:custGeom>
            <a:avLst/>
            <a:gdLst/>
            <a:ahLst/>
            <a:cxnLst/>
            <a:rect r="r" b="b" t="t" l="l"/>
            <a:pathLst>
              <a:path h="9598990" w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4950" y="6061577"/>
            <a:ext cx="6574559" cy="199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8"/>
              </a:lnSpc>
              <a:spcBef>
                <a:spcPct val="0"/>
              </a:spcBef>
            </a:pPr>
            <a:r>
              <a:rPr lang="en-US" sz="1998" spc="119" u="none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Démonstration en direct des fonctionnalités majeures répondant fidèlement aux besoins opérationnels du café-boutique 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75489" y="1170261"/>
            <a:ext cx="6998061" cy="2561528"/>
            <a:chOff x="0" y="0"/>
            <a:chExt cx="2342659" cy="8574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91672" y="1986201"/>
            <a:ext cx="1578952" cy="73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601687" y="7090234"/>
            <a:ext cx="7498697" cy="34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95"/>
              </a:lnSpc>
            </a:pPr>
            <a:r>
              <a:rPr lang="en-US" b="true" sz="27548" spc="-134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75489" y="3862348"/>
            <a:ext cx="6998061" cy="2561528"/>
            <a:chOff x="0" y="0"/>
            <a:chExt cx="2342659" cy="8574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75489" y="6557226"/>
            <a:ext cx="6998061" cy="2561528"/>
            <a:chOff x="0" y="0"/>
            <a:chExt cx="2342659" cy="8574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2659" cy="857492"/>
            </a:xfrm>
            <a:custGeom>
              <a:avLst/>
              <a:gdLst/>
              <a:ahLst/>
              <a:cxnLst/>
              <a:rect r="r" b="b" t="t" l="l"/>
              <a:pathLst>
                <a:path h="857492" w="2342659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04775"/>
              <a:ext cx="2342659" cy="752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91672" y="4679683"/>
            <a:ext cx="1578952" cy="73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491672" y="7373166"/>
            <a:ext cx="1578952" cy="73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491672" y="1721410"/>
            <a:ext cx="5859363" cy="134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8"/>
              </a:lnSpc>
              <a:spcBef>
                <a:spcPct val="0"/>
              </a:spcBef>
            </a:pPr>
            <a:r>
              <a:rPr lang="en-US" sz="1983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1. Réservation Anti-Surbooking : Choix de créneau horaire, attribution automatique de table et confirmation instantanée.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91672" y="4414892"/>
            <a:ext cx="5859363" cy="134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8"/>
              </a:lnSpc>
              <a:spcBef>
                <a:spcPct val="0"/>
              </a:spcBef>
            </a:pPr>
            <a:r>
              <a:rPr lang="en-US" sz="1983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2. Inscriptions aux Tournois TCG : Mise à jour de la jauge en direct, affichage des participants et désistement en 1 clic.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91672" y="7108374"/>
            <a:ext cx="5859363" cy="134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78"/>
              </a:lnSpc>
              <a:spcBef>
                <a:spcPct val="0"/>
              </a:spcBef>
            </a:pPr>
            <a:r>
              <a:rPr lang="en-US" sz="1983" spc="31" u="none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3. Support Client Multi-Tours : Envoi d'une question membre, pastille de notification admin et réponse immédiate.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4950" y="3714818"/>
            <a:ext cx="7639050" cy="190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02"/>
              </a:lnSpc>
            </a:pPr>
            <a:r>
              <a:rPr lang="en-US" b="true" sz="7049" spc="-34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Synthèse &amp; Démonstration Live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gradFill rotWithShape="true">
              <a:gsLst>
                <a:gs pos="0">
                  <a:srgbClr val="7B2D9F">
                    <a:alpha val="100000"/>
                  </a:srgbClr>
                </a:gs>
                <a:gs pos="100000">
                  <a:srgbClr val="FDD82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54093"/>
            <a:ext cx="311732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Soutenance Pro DWWM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4093"/>
            <a:ext cx="311732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Cicados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54093"/>
            <a:ext cx="311732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DWWM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54093"/>
            <a:ext cx="140626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54093"/>
            <a:ext cx="1406261" cy="38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660790" y="3082952"/>
            <a:ext cx="1059851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280"/>
              </a:lnSpc>
            </a:pPr>
            <a:r>
              <a:rPr lang="en-US" b="true" sz="12000" spc="-58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Remerciements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9505" y="4756835"/>
            <a:ext cx="8459795" cy="113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378"/>
              </a:lnSpc>
            </a:pPr>
            <a:r>
              <a:rPr lang="en-US" sz="4378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Merci pour votre écoute — Questions &amp; Échanges avec le Jury | Olivier PARRAUD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DAHROLwWQ0Y</dc:identifier>
  <dcterms:modified xsi:type="dcterms:W3CDTF">2011-08-01T06:04:30Z</dcterms:modified>
  <cp:revision>1</cp:revision>
  <dc:title>Cicados — Soutenance Titre Pro DWWM</dc:title>
</cp:coreProperties>
</file>