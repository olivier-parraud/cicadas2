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0D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280160"/>
            <a:ext cx="10360152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 b="1">
                <a:solidFill>
                  <a:srgbClr val="FFBF00"/>
                </a:solidFill>
              </a:defRPr>
            </a:pPr>
            <a:r>
              <a:t>TITRE PROFESSIONNEL DWWM — SESSION 2026</a:t>
            </a:r>
          </a:p>
          <a:p>
            <a:pPr>
              <a:spcAft>
                <a:spcPts val="1000"/>
              </a:spcAft>
              <a:defRPr sz="5600" b="1">
                <a:solidFill>
                  <a:srgbClr val="FFFFFF"/>
                </a:solidFill>
              </a:defRPr>
            </a:pPr>
            <a:r>
              <a:t>CICADOS</a:t>
            </a:r>
          </a:p>
          <a:p>
            <a:pPr>
              <a:spcAft>
                <a:spcPts val="2000"/>
              </a:spcAft>
              <a:defRPr sz="2000">
                <a:solidFill>
                  <a:srgbClr val="C084FC"/>
                </a:solidFill>
              </a:defRPr>
            </a:pPr>
            <a:r>
              <a:t>Plateforme Web de Réservation de Tables &amp; Événements pour Café-Jeux et Duels TCG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4572000"/>
            <a:ext cx="4846320" cy="1645920"/>
          </a:xfrm>
          <a:prstGeom prst="roundRect">
            <a:avLst/>
          </a:prstGeom>
          <a:solidFill>
            <a:srgbClr val="1C1434"/>
          </a:solidFill>
          <a:ln w="19050">
            <a:solidFill>
              <a:srgbClr val="FFB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4754880"/>
            <a:ext cx="438912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FBF00"/>
                </a:solidFill>
              </a:defRPr>
            </a:pPr>
            <a:r>
              <a:t>PROFIL</a:t>
            </a:r>
          </a:p>
          <a:p>
            <a:pPr>
              <a:spcAft>
                <a:spcPts val="1200"/>
              </a:spcAft>
              <a:defRPr sz="1800" b="1">
                <a:solidFill>
                  <a:srgbClr val="FFBF00"/>
                </a:solidFill>
              </a:defRPr>
            </a:pPr>
            <a:r>
              <a:t>Candidat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Olivier PARRAUD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Développeur Fullstack Web &amp; Web Mobile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Référentiel REAC — Ministère du Travail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4572000"/>
            <a:ext cx="5029200" cy="1645920"/>
          </a:xfrm>
          <a:prstGeom prst="roundRect">
            <a:avLst/>
          </a:prstGeom>
          <a:solidFill>
            <a:srgbClr val="1C1434"/>
          </a:solidFill>
          <a:ln w="1905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4754880"/>
            <a:ext cx="457200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C084FC"/>
                </a:solidFill>
              </a:defRPr>
            </a:pPr>
            <a:r>
              <a:t>CADRE</a:t>
            </a:r>
          </a:p>
          <a:p>
            <a:pPr>
              <a:spcAft>
                <a:spcPts val="1200"/>
              </a:spcAft>
              <a:defRPr sz="1800" b="1">
                <a:solidFill>
                  <a:srgbClr val="C084FC"/>
                </a:solidFill>
              </a:defRPr>
            </a:pPr>
            <a:r>
              <a:t>Établissement &amp; Évaluation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La Plateforme — Marseille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Titre Professionnel Niveau 5 (Bac +2)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Soutenance devant Jury Professionnel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0D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FBF00"/>
                </a:solidFill>
              </a:defRPr>
            </a:pPr>
            <a:r>
              <a:t>1. 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96012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Parcours &amp; Reconversion Professionnelle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1148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C084FC"/>
                </a:solidFill>
              </a:defRPr>
            </a:pPr>
            <a:r>
              <a:t>02 / 30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3291840" cy="4389120"/>
          </a:xfrm>
          <a:prstGeom prst="roundRect">
            <a:avLst/>
          </a:prstGeom>
          <a:solidFill>
            <a:srgbClr val="1C1434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011680"/>
            <a:ext cx="283464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ORIGINES</a:t>
            </a:r>
          </a:p>
          <a:p>
            <a:pPr>
              <a:spcAft>
                <a:spcPts val="1200"/>
              </a:spcAft>
              <a:defRPr sz="1800" b="1">
                <a:solidFill>
                  <a:srgbClr val="38BDF8"/>
                </a:solidFill>
              </a:defRPr>
            </a:pPr>
            <a:r>
              <a:t>Socle Technique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Bac Professionnel Système Numérique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Option Réseaux informatiques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Rigueur logique &amp; gestion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Mécanismes d'infrastructure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828800"/>
            <a:ext cx="3291840" cy="4389120"/>
          </a:xfrm>
          <a:prstGeom prst="roundRect">
            <a:avLst/>
          </a:prstGeom>
          <a:solidFill>
            <a:srgbClr val="1C1434"/>
          </a:solidFill>
          <a:ln w="19050">
            <a:solidFill>
              <a:srgbClr val="FFB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2011680"/>
            <a:ext cx="283464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FBF00"/>
                </a:solidFill>
              </a:defRPr>
            </a:pPr>
            <a:r>
              <a:t>TRANSITION</a:t>
            </a:r>
          </a:p>
          <a:p>
            <a:pPr>
              <a:spcAft>
                <a:spcPts val="1200"/>
              </a:spcAft>
              <a:defRPr sz="1800" b="1">
                <a:solidFill>
                  <a:srgbClr val="FFBF00"/>
                </a:solidFill>
              </a:defRPr>
            </a:pPr>
            <a:r>
              <a:t>Le Déclic Web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Période charnière de reconversion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Envie de création concrète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Allier rigueur backend &amp; ergonomie front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Passion pour l'univers du jeu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828800"/>
            <a:ext cx="3383280" cy="4389120"/>
          </a:xfrm>
          <a:prstGeom prst="roundRect">
            <a:avLst/>
          </a:prstGeom>
          <a:solidFill>
            <a:srgbClr val="1C1434"/>
          </a:solidFill>
          <a:ln w="1905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75320" y="2011680"/>
            <a:ext cx="29260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C084FC"/>
                </a:solidFill>
              </a:defRPr>
            </a:pPr>
            <a:r>
              <a:t>VALIDATION</a:t>
            </a:r>
          </a:p>
          <a:p>
            <a:pPr>
              <a:spcAft>
                <a:spcPts val="1200"/>
              </a:spcAft>
              <a:defRPr sz="1800" b="1">
                <a:solidFill>
                  <a:srgbClr val="C084FC"/>
                </a:solidFill>
              </a:defRPr>
            </a:pPr>
            <a:r>
              <a:t>La Plateforme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Formation intensive DWWM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Apprentissage par projets réels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Pratiques professionnelles modernes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Scrum, Git collaboratif, autonomie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0D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FBF00"/>
                </a:solidFill>
              </a:defRPr>
            </a:pPr>
            <a:r>
              <a:t>1. 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96012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Le Marché Hybride : Bar à Jeux &amp; Duels TCG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1148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C084FC"/>
                </a:solidFill>
              </a:defRPr>
            </a:pPr>
            <a:r>
              <a:t>03 / 30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3291840" cy="4389120"/>
          </a:xfrm>
          <a:prstGeom prst="roundRect">
            <a:avLst/>
          </a:prstGeom>
          <a:solidFill>
            <a:srgbClr val="1C1434"/>
          </a:solidFill>
          <a:ln w="19050">
            <a:solidFill>
              <a:srgbClr val="FFB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011680"/>
            <a:ext cx="283464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FBF00"/>
                </a:solidFill>
              </a:defRPr>
            </a:pPr>
            <a:r>
              <a:t>TENDANCE</a:t>
            </a:r>
          </a:p>
          <a:p>
            <a:pPr>
              <a:spcAft>
                <a:spcPts val="1200"/>
              </a:spcAft>
              <a:defRPr sz="1800" b="1">
                <a:solidFill>
                  <a:srgbClr val="FFBF00"/>
                </a:solidFill>
              </a:defRPr>
            </a:pPr>
            <a:r>
              <a:t>L'Essor des Cafés-Jeux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Lieux hybrides : café, bar &amp; boutique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Forte demande de convivialité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Consommation + location d'espaces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Rotation rapide des tables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828800"/>
            <a:ext cx="3291840" cy="4389120"/>
          </a:xfrm>
          <a:prstGeom prst="roundRect">
            <a:avLst/>
          </a:prstGeom>
          <a:solidFill>
            <a:srgbClr val="1C1434"/>
          </a:solidFill>
          <a:ln w="1905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2011680"/>
            <a:ext cx="283464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C084FC"/>
                </a:solidFill>
              </a:defRPr>
            </a:pPr>
            <a:r>
              <a:t>COMMUNAUTÉ</a:t>
            </a:r>
          </a:p>
          <a:p>
            <a:pPr>
              <a:spcAft>
                <a:spcPts val="1200"/>
              </a:spcAft>
              <a:defRPr sz="1800" b="1">
                <a:solidFill>
                  <a:srgbClr val="C084FC"/>
                </a:solidFill>
              </a:defRPr>
            </a:pPr>
            <a:r>
              <a:t>Le Boom des TCG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Magic: The Gathering, Pokémon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Lorcana, Yu-Gi-Oh!, Riftbound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Événements compétitifs hebdomadaires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Besoin de formats officiels certifiés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828800"/>
            <a:ext cx="3383280" cy="4389120"/>
          </a:xfrm>
          <a:prstGeom prst="roundRect">
            <a:avLst/>
          </a:prstGeom>
          <a:solidFill>
            <a:srgbClr val="1C1434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75320" y="2011680"/>
            <a:ext cx="29260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TERRAIN</a:t>
            </a:r>
          </a:p>
          <a:p>
            <a:pPr>
              <a:spcAft>
                <a:spcPts val="1200"/>
              </a:spcAft>
              <a:defRPr sz="1800" b="1">
                <a:solidFill>
                  <a:srgbClr val="38BDF8"/>
                </a:solidFill>
              </a:defRPr>
            </a:pPr>
            <a:r>
              <a:t>La Réalité Opérationnelle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Gestion logistique complexe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Temps limité pour le gérant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Attente forte d'immédiateté client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Nécessité de digitalisation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0D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FBF00"/>
                </a:solidFill>
              </a:defRPr>
            </a:pPr>
            <a:r>
              <a:t>1. 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96012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Problématiques Métier &amp; Besoins Identifiés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1148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C084FC"/>
                </a:solidFill>
              </a:defRPr>
            </a:pPr>
            <a:r>
              <a:t>04 / 30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3291840" cy="4389120"/>
          </a:xfrm>
          <a:prstGeom prst="roundRect">
            <a:avLst/>
          </a:prstGeom>
          <a:solidFill>
            <a:srgbClr val="1C1434"/>
          </a:solidFill>
          <a:ln w="1905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011680"/>
            <a:ext cx="283464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87171"/>
                </a:solidFill>
              </a:defRPr>
            </a:pPr>
            <a:r>
              <a:t>PROBLÈME 1</a:t>
            </a:r>
          </a:p>
          <a:p>
            <a:pPr>
              <a:spcAft>
                <a:spcPts val="1200"/>
              </a:spcAft>
              <a:defRPr sz="1800" b="1">
                <a:solidFill>
                  <a:srgbClr val="F87171"/>
                </a:solidFill>
              </a:defRPr>
            </a:pPr>
            <a:r>
              <a:t>Surbooking Physique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Capacité restreinte : 4 tables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Conflits horaires récurrents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Perte de clients déçus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Gestion papier / tableur inadaptée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828800"/>
            <a:ext cx="3291840" cy="4389120"/>
          </a:xfrm>
          <a:prstGeom prst="roundRect">
            <a:avLst/>
          </a:prstGeom>
          <a:solidFill>
            <a:srgbClr val="1C1434"/>
          </a:solidFill>
          <a:ln w="1905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2011680"/>
            <a:ext cx="283464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87171"/>
                </a:solidFill>
              </a:defRPr>
            </a:pPr>
            <a:r>
              <a:t>PROBLÈME 2</a:t>
            </a:r>
          </a:p>
          <a:p>
            <a:pPr>
              <a:spcAft>
                <a:spcPts val="1200"/>
              </a:spcAft>
              <a:defRPr sz="1800" b="1">
                <a:solidFill>
                  <a:srgbClr val="F87171"/>
                </a:solidFill>
              </a:defRPr>
            </a:pPr>
            <a:r>
              <a:t>Gestion des Tournois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Inscriptions dispersées (réseaux, SMS)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Jauges dépassées sans contrôle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Désistements non anticipés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Manque de visibilité en temps réel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828800"/>
            <a:ext cx="3383280" cy="4389120"/>
          </a:xfrm>
          <a:prstGeom prst="roundRect">
            <a:avLst/>
          </a:prstGeom>
          <a:solidFill>
            <a:srgbClr val="1C1434"/>
          </a:solidFill>
          <a:ln w="1905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75320" y="2011680"/>
            <a:ext cx="29260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87171"/>
                </a:solidFill>
              </a:defRPr>
            </a:pPr>
            <a:r>
              <a:t>PROBLÈME 3</a:t>
            </a:r>
          </a:p>
          <a:p>
            <a:pPr>
              <a:spcAft>
                <a:spcPts val="1200"/>
              </a:spcAft>
              <a:defRPr sz="1800" b="1">
                <a:solidFill>
                  <a:srgbClr val="F87171"/>
                </a:solidFill>
              </a:defRPr>
            </a:pPr>
            <a:r>
              <a:t>Communication Éparpillée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Questions règles / decks sans canal direct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Stock boutique inconnu du public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Saisie manuelle des fiches jeux chronophage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Absence de back-office unifié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0D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FBF00"/>
                </a:solidFill>
              </a:defRPr>
            </a:pPr>
            <a:r>
              <a:t>1. 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96012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La Solution Cicados : Écosystème Tout-en-Un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1148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C084FC"/>
                </a:solidFill>
              </a:defRPr>
            </a:pPr>
            <a:r>
              <a:t>05 / 30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2468880" cy="4389120"/>
          </a:xfrm>
          <a:prstGeom prst="roundRect">
            <a:avLst/>
          </a:prstGeom>
          <a:solidFill>
            <a:srgbClr val="1C1434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011680"/>
            <a:ext cx="20116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4D399"/>
                </a:solidFill>
              </a:defRPr>
            </a:pPr>
            <a:r>
              <a:t>MOTEUR</a:t>
            </a:r>
          </a:p>
          <a:p>
            <a:pPr>
              <a:spcAft>
                <a:spcPts val="1200"/>
              </a:spcAft>
              <a:defRPr sz="1800" b="1">
                <a:solidFill>
                  <a:srgbClr val="34D399"/>
                </a:solidFill>
              </a:defRPr>
            </a:pPr>
            <a:r>
              <a:t>Réservation 0 Conflit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Contrôle anti-surbooking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Allocation dynamique 4 tables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Grille horaire temps réel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Vérification du stock jeu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828800"/>
            <a:ext cx="2468880" cy="4389120"/>
          </a:xfrm>
          <a:prstGeom prst="roundRect">
            <a:avLst/>
          </a:prstGeom>
          <a:solidFill>
            <a:srgbClr val="1C1434"/>
          </a:solidFill>
          <a:ln w="19050">
            <a:solidFill>
              <a:srgbClr val="FFB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03320" y="2011680"/>
            <a:ext cx="20116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FBF00"/>
                </a:solidFill>
              </a:defRPr>
            </a:pPr>
            <a:r>
              <a:t>ÉVÉNEMENTS</a:t>
            </a:r>
          </a:p>
          <a:p>
            <a:pPr>
              <a:spcAft>
                <a:spcPts val="1200"/>
              </a:spcAft>
              <a:defRPr sz="1800" b="1">
                <a:solidFill>
                  <a:srgbClr val="FFBF00"/>
                </a:solidFill>
              </a:defRPr>
            </a:pPr>
            <a:r>
              <a:t>Tournois TCG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Agenda dynamique mensuel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Jauges automatiques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Inscription 1-clic sécurisée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Listes joueurs réactives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828800"/>
            <a:ext cx="2468880" cy="4389120"/>
          </a:xfrm>
          <a:prstGeom prst="roundRect">
            <a:avLst/>
          </a:prstGeom>
          <a:solidFill>
            <a:srgbClr val="1C1434"/>
          </a:solidFill>
          <a:ln w="1905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2011680"/>
            <a:ext cx="20116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C084FC"/>
                </a:solidFill>
              </a:defRPr>
            </a:pPr>
            <a:r>
              <a:t>BOUTIQUE</a:t>
            </a:r>
          </a:p>
          <a:p>
            <a:pPr>
              <a:spcAft>
                <a:spcPts val="1200"/>
              </a:spcAft>
              <a:defRPr sz="1800" b="1">
                <a:solidFill>
                  <a:srgbClr val="C084FC"/>
                </a:solidFill>
              </a:defRPr>
            </a:pPr>
            <a:r>
              <a:t>Ludothèque &amp; Stock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Catalogue 100+ jeux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Import automatique BGG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Contrôle rapide du stock (+/-)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Failover haute résilience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61120" y="1828800"/>
            <a:ext cx="2468880" cy="4389120"/>
          </a:xfrm>
          <a:prstGeom prst="roundRect">
            <a:avLst/>
          </a:prstGeom>
          <a:solidFill>
            <a:srgbClr val="1C1434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89720" y="2011680"/>
            <a:ext cx="20116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GESTION</a:t>
            </a:r>
          </a:p>
          <a:p>
            <a:pPr>
              <a:spcAft>
                <a:spcPts val="1200"/>
              </a:spcAft>
              <a:defRPr sz="1800" b="1">
                <a:solidFill>
                  <a:srgbClr val="38BDF8"/>
                </a:solidFill>
              </a:defRPr>
            </a:pPr>
            <a:r>
              <a:t>Support &amp; Back-Office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Messagerie membre multi-tours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Pastille rouge réactive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Console admin 6 onglets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Gestion globale en 1 clic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0D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FBF00"/>
                </a:solidFill>
              </a:defRPr>
            </a:pPr>
            <a:r>
              <a:t>2. CONCEPTION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96012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Organisation de Projet &amp; Méthode Agile Scrum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1148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C084FC"/>
                </a:solidFill>
              </a:defRPr>
            </a:pPr>
            <a:r>
              <a:t>06 / 30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2468880" cy="4389120"/>
          </a:xfrm>
          <a:prstGeom prst="roundRect">
            <a:avLst/>
          </a:prstGeom>
          <a:solidFill>
            <a:srgbClr val="1C1434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011680"/>
            <a:ext cx="20116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SEMAINE 1</a:t>
            </a:r>
          </a:p>
          <a:p>
            <a:pPr>
              <a:spcAft>
                <a:spcPts val="1200"/>
              </a:spcAft>
              <a:defRPr sz="1800" b="1">
                <a:solidFill>
                  <a:srgbClr val="38BDF8"/>
                </a:solidFill>
              </a:defRPr>
            </a:pPr>
            <a:r>
              <a:t>Sprint 0 : Cadrage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Cahier des charges complet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Modélisation BDD (MCD/MLD)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Wireframes &amp; Maquettes Figma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Dictionnaire de données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828800"/>
            <a:ext cx="2468880" cy="4389120"/>
          </a:xfrm>
          <a:prstGeom prst="roundRect">
            <a:avLst/>
          </a:prstGeom>
          <a:solidFill>
            <a:srgbClr val="1C1434"/>
          </a:solidFill>
          <a:ln w="19050">
            <a:solidFill>
              <a:srgbClr val="FFB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03320" y="2011680"/>
            <a:ext cx="20116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FBF00"/>
                </a:solidFill>
              </a:defRPr>
            </a:pPr>
            <a:r>
              <a:t>SEMAINE 2</a:t>
            </a:r>
          </a:p>
          <a:p>
            <a:pPr>
              <a:spcAft>
                <a:spcPts val="1200"/>
              </a:spcAft>
              <a:defRPr sz="1800" b="1">
                <a:solidFill>
                  <a:srgbClr val="FFBF00"/>
                </a:solidFill>
              </a:defRPr>
            </a:pPr>
            <a:r>
              <a:t>Sprint 1 : Core &amp; MVC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Serveur Express &amp; Pool MySQL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Design System Tailwind CSS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Pages Accueil &amp; Ludothèque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Fiches détails de jeux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828800"/>
            <a:ext cx="2468880" cy="4389120"/>
          </a:xfrm>
          <a:prstGeom prst="roundRect">
            <a:avLst/>
          </a:prstGeom>
          <a:solidFill>
            <a:srgbClr val="1C1434"/>
          </a:solidFill>
          <a:ln w="1905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2011680"/>
            <a:ext cx="20116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C084FC"/>
                </a:solidFill>
              </a:defRPr>
            </a:pPr>
            <a:r>
              <a:t>SEMAINE 3</a:t>
            </a:r>
          </a:p>
          <a:p>
            <a:pPr>
              <a:spcAft>
                <a:spcPts val="1200"/>
              </a:spcAft>
              <a:defRPr sz="1800" b="1">
                <a:solidFill>
                  <a:srgbClr val="C084FC"/>
                </a:solidFill>
              </a:defRPr>
            </a:pPr>
            <a:r>
              <a:t>Sprint 2 : Métier Clé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Auth JWT &amp; Rôles (RBAC)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Moteur anti-surbooking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Inscriptions tournois TCG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Grille horaire interactive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61120" y="1828800"/>
            <a:ext cx="2468880" cy="4389120"/>
          </a:xfrm>
          <a:prstGeom prst="roundRect">
            <a:avLst/>
          </a:prstGeom>
          <a:solidFill>
            <a:srgbClr val="1C1434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89720" y="2011680"/>
            <a:ext cx="20116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4D399"/>
                </a:solidFill>
              </a:defRPr>
            </a:pPr>
            <a:r>
              <a:t>SEMAINE 4</a:t>
            </a:r>
          </a:p>
          <a:p>
            <a:pPr>
              <a:spcAft>
                <a:spcPts val="1200"/>
              </a:spcAft>
              <a:defRPr sz="1800" b="1">
                <a:solidFill>
                  <a:srgbClr val="34D399"/>
                </a:solidFill>
              </a:defRPr>
            </a:pPr>
            <a:r>
              <a:t>Sprint 3 : Admin &amp; Tests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Dashboard Admin 6 onglets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Messagerie client multi-tours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Proxy BGG &amp; Failover JSON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Tests E2E automatisés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0D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FBF00"/>
                </a:solidFill>
              </a:defRPr>
            </a:pPr>
            <a:r>
              <a:t>2. CONCEPTION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96012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Typologie des Utilisateurs Cibles (Personas)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1148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C084FC"/>
                </a:solidFill>
              </a:defRPr>
            </a:pPr>
            <a:r>
              <a:t>07 / 30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3291840" cy="4389120"/>
          </a:xfrm>
          <a:prstGeom prst="roundRect">
            <a:avLst/>
          </a:prstGeom>
          <a:solidFill>
            <a:srgbClr val="1C1434"/>
          </a:solidFill>
          <a:ln w="19050">
            <a:solidFill>
              <a:srgbClr val="FFB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011680"/>
            <a:ext cx="283464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FBF00"/>
                </a:solidFill>
              </a:defRPr>
            </a:pPr>
            <a:r>
              <a:t>COMPÉTITRICE TCG</a:t>
            </a:r>
          </a:p>
          <a:p>
            <a:pPr>
              <a:spcAft>
                <a:spcPts val="1200"/>
              </a:spcAft>
              <a:defRPr sz="1800" b="1">
                <a:solidFill>
                  <a:srgbClr val="FFBF00"/>
                </a:solidFill>
              </a:defRPr>
            </a:pPr>
            <a:r>
              <a:t>Sarah (27 ans)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Joueuse compétitive Magic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Besoin : inscription express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Visibilité jauges en temps réel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Contact direct avec l'organisateur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Zéro tolérance pour les bugs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828800"/>
            <a:ext cx="3291840" cy="4389120"/>
          </a:xfrm>
          <a:prstGeom prst="roundRect">
            <a:avLst/>
          </a:prstGeom>
          <a:solidFill>
            <a:srgbClr val="1C1434"/>
          </a:solidFill>
          <a:ln w="1905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2011680"/>
            <a:ext cx="283464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C084FC"/>
                </a:solidFill>
              </a:defRPr>
            </a:pPr>
            <a:r>
              <a:t>JOUEUR OCCASIONNEL</a:t>
            </a:r>
          </a:p>
          <a:p>
            <a:pPr>
              <a:spcAft>
                <a:spcPts val="1200"/>
              </a:spcAft>
              <a:defRPr sz="1800" b="1">
                <a:solidFill>
                  <a:srgbClr val="C084FC"/>
                </a:solidFill>
              </a:defRPr>
            </a:pPr>
            <a:r>
              <a:t>Thomas (34 ans)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Père de famille, joueur casual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Besoin : réserver table le week-end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Savoir si un jeu est en stock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Clarté des tarifs et horaires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Interface fluide sur mobile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828800"/>
            <a:ext cx="3383280" cy="4389120"/>
          </a:xfrm>
          <a:prstGeom prst="roundRect">
            <a:avLst/>
          </a:prstGeom>
          <a:solidFill>
            <a:srgbClr val="1C1434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75320" y="2011680"/>
            <a:ext cx="29260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ADMINISTRATEUR</a:t>
            </a:r>
          </a:p>
          <a:p>
            <a:pPr>
              <a:spcAft>
                <a:spcPts val="1200"/>
              </a:spcAft>
              <a:defRPr sz="1800" b="1">
                <a:solidFill>
                  <a:srgbClr val="38BDF8"/>
                </a:solidFill>
              </a:defRPr>
            </a:pPr>
            <a:r>
              <a:t>Olivier (45 ans)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Gérant du café-boutique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Besoin : vue 360° du planning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Répondre aux messages en 1 clic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Ajuster stocks instantanément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Importer catalogues sans ressaisie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0D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FBF00"/>
                </a:solidFill>
              </a:defRPr>
            </a:pPr>
            <a:r>
              <a:t>2. CONCEPTION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96012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Périmètre Fonctionnel : Matrice MoSCoW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1148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C084FC"/>
                </a:solidFill>
              </a:defRPr>
            </a:pPr>
            <a:r>
              <a:t>08 / 30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2468880" cy="4389120"/>
          </a:xfrm>
          <a:prstGeom prst="roundRect">
            <a:avLst/>
          </a:prstGeom>
          <a:solidFill>
            <a:srgbClr val="1C1434"/>
          </a:solidFill>
          <a:ln w="1905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011680"/>
            <a:ext cx="20116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87171"/>
                </a:solidFill>
              </a:defRPr>
            </a:pPr>
            <a:r>
              <a:t>SOCLE V1</a:t>
            </a:r>
          </a:p>
          <a:p>
            <a:pPr>
              <a:spcAft>
                <a:spcPts val="1200"/>
              </a:spcAft>
              <a:defRPr sz="1800" b="1">
                <a:solidFill>
                  <a:srgbClr val="F87171"/>
                </a:solidFill>
              </a:defRPr>
            </a:pPr>
            <a:r>
              <a:t>MUST HAVE (Vital)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Authentification sécurisée JWT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Réservation anti-surbooking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Inscriptions aux tournois TCG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Dashboard Admin (CRUD)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Catalogue jeux responsive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828800"/>
            <a:ext cx="2468880" cy="4389120"/>
          </a:xfrm>
          <a:prstGeom prst="roundRect">
            <a:avLst/>
          </a:prstGeom>
          <a:solidFill>
            <a:srgbClr val="1C1434"/>
          </a:solidFill>
          <a:ln w="19050">
            <a:solidFill>
              <a:srgbClr val="FFB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03320" y="2011680"/>
            <a:ext cx="20116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FBF00"/>
                </a:solidFill>
              </a:defRPr>
            </a:pPr>
            <a:r>
              <a:t>VALEUR AJOUTÉE</a:t>
            </a:r>
          </a:p>
          <a:p>
            <a:pPr>
              <a:spcAft>
                <a:spcPts val="1200"/>
              </a:spcAft>
              <a:defRPr sz="1800" b="1">
                <a:solidFill>
                  <a:srgbClr val="FFBF00"/>
                </a:solidFill>
              </a:defRPr>
            </a:pPr>
            <a:r>
              <a:t>SHOULD HAVE (Majeur)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Messagerie support multi-tours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Gestion des stocks boutique (+/-)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Importateur automatique BGG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Secours panne JSON (Failover)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Pastille rouge admin réactive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828800"/>
            <a:ext cx="2468880" cy="4389120"/>
          </a:xfrm>
          <a:prstGeom prst="roundRect">
            <a:avLst/>
          </a:prstGeom>
          <a:solidFill>
            <a:srgbClr val="1C1434"/>
          </a:solidFill>
          <a:ln w="1905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2011680"/>
            <a:ext cx="20116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C084FC"/>
                </a:solidFill>
              </a:defRPr>
            </a:pPr>
            <a:r>
              <a:t>ÉVOLUTIONS</a:t>
            </a:r>
          </a:p>
          <a:p>
            <a:pPr>
              <a:spcAft>
                <a:spcPts val="1200"/>
              </a:spcAft>
              <a:defRPr sz="1800" b="1">
                <a:solidFill>
                  <a:srgbClr val="C084FC"/>
                </a:solidFill>
              </a:defRPr>
            </a:pPr>
            <a:r>
              <a:t>COULD HAVE (Confort)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Paiement tournoi en ligne (Stripe)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WebSockets temps réel (Socket.io)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Export PDF ticket avec QR Code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Filtres avancés par durée/thème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61120" y="1828800"/>
            <a:ext cx="2468880" cy="4389120"/>
          </a:xfrm>
          <a:prstGeom prst="roundRect">
            <a:avLst/>
          </a:prstGeom>
          <a:solidFill>
            <a:srgbClr val="1C1434"/>
          </a:solidFill>
          <a:ln w="1905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89720" y="2011680"/>
            <a:ext cx="20116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9CA3AF"/>
                </a:solidFill>
              </a:defRPr>
            </a:pPr>
            <a:r>
              <a:t>ROADMAP V2</a:t>
            </a:r>
          </a:p>
          <a:p>
            <a:pPr>
              <a:spcAft>
                <a:spcPts val="1200"/>
              </a:spcAft>
              <a:defRPr sz="1800" b="1">
                <a:solidFill>
                  <a:srgbClr val="9CA3AF"/>
                </a:solidFill>
              </a:defRPr>
            </a:pPr>
            <a:r>
              <a:t>WON'T HAVE (Hors V1)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App mobile native React Native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Boutique e-commerce avec livraison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Système de classement Elo annuel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Carte de fidélité dématérialisée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0D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FBF00"/>
                </a:solidFill>
              </a:defRPr>
            </a:pPr>
            <a:r>
              <a:t>2. CONCEPTION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96012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Arborescence &amp; Navigation de l'Application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1148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C084FC"/>
                </a:solidFill>
              </a:defRPr>
            </a:pPr>
            <a:r>
              <a:t>09 / 30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3291840" cy="4389120"/>
          </a:xfrm>
          <a:prstGeom prst="roundRect">
            <a:avLst/>
          </a:prstGeom>
          <a:solidFill>
            <a:srgbClr val="1C1434"/>
          </a:solidFill>
          <a:ln w="19050">
            <a:solidFill>
              <a:srgbClr val="FFB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011680"/>
            <a:ext cx="283464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FBF00"/>
                </a:solidFill>
              </a:defRPr>
            </a:pPr>
            <a:r>
              <a:t>VISITEURS</a:t>
            </a:r>
          </a:p>
          <a:p>
            <a:pPr>
              <a:spcAft>
                <a:spcPts val="1200"/>
              </a:spcAft>
              <a:defRPr sz="1800" b="1">
                <a:solidFill>
                  <a:srgbClr val="FFBF00"/>
                </a:solidFill>
              </a:defRPr>
            </a:pPr>
            <a:r>
              <a:t>Zone Publique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/ : Accueil immersif &amp; Événements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/boardgames : Catalogue ludothèque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/tournament : Calendrier tournois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/login &amp; /register : Portails Auth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Modale de contact accessible partout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828800"/>
            <a:ext cx="3291840" cy="4389120"/>
          </a:xfrm>
          <a:prstGeom prst="roundRect">
            <a:avLst/>
          </a:prstGeom>
          <a:solidFill>
            <a:srgbClr val="1C1434"/>
          </a:solidFill>
          <a:ln w="1905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2011680"/>
            <a:ext cx="283464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C084FC"/>
                </a:solidFill>
              </a:defRPr>
            </a:pPr>
            <a:r>
              <a:t>JOUEURS CONNECTÉS</a:t>
            </a:r>
          </a:p>
          <a:p>
            <a:pPr>
              <a:spcAft>
                <a:spcPts val="1200"/>
              </a:spcAft>
              <a:defRPr sz="1800" b="1">
                <a:solidFill>
                  <a:srgbClr val="C084FC"/>
                </a:solidFill>
              </a:defRPr>
            </a:pPr>
            <a:r>
              <a:t>Zone Membre (JWT)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/reservations : Choix date/table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/my-reservations : Suivi activités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/profile : Données personnelles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Fil support client multi-tours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Annulation en 1 clic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828800"/>
            <a:ext cx="3383280" cy="4389120"/>
          </a:xfrm>
          <a:prstGeom prst="roundRect">
            <a:avLst/>
          </a:prstGeom>
          <a:solidFill>
            <a:srgbClr val="1C1434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75320" y="2011680"/>
            <a:ext cx="29260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RÔLE ADMIN</a:t>
            </a:r>
          </a:p>
          <a:p>
            <a:pPr>
              <a:spcAft>
                <a:spcPts val="1200"/>
              </a:spcAft>
              <a:defRPr sz="1800" b="1">
                <a:solidFill>
                  <a:srgbClr val="38BDF8"/>
                </a:solidFill>
              </a:defRPr>
            </a:pPr>
            <a:r>
              <a:t>Zone Admin (RBAC)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/admin : Console 6 onglets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1. Réservations &amp; 2. Tournois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3. Événements &amp; 4. Jeux / Stocks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5. Utilisateurs &amp; 6. Messages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Import BGG Hot 100 en 1 clic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0D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FBF00"/>
                </a:solidFill>
              </a:defRPr>
            </a:pPr>
            <a:r>
              <a:t>2. CONCEPTION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96012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Modélisation de la Donnée : Schéma Relationnel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1148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C084FC"/>
                </a:solidFill>
              </a:defRPr>
            </a:pPr>
            <a:r>
              <a:t>10 / 30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3291840" cy="4389120"/>
          </a:xfrm>
          <a:prstGeom prst="roundRect">
            <a:avLst/>
          </a:prstGeom>
          <a:solidFill>
            <a:srgbClr val="1C1434"/>
          </a:solidFill>
          <a:ln w="19050">
            <a:solidFill>
              <a:srgbClr val="FFB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011680"/>
            <a:ext cx="283464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FBF00"/>
                </a:solidFill>
              </a:defRPr>
            </a:pPr>
            <a:r>
              <a:t>ARCHITECTURE</a:t>
            </a:r>
          </a:p>
          <a:p>
            <a:pPr>
              <a:spcAft>
                <a:spcPts val="1200"/>
              </a:spcAft>
              <a:defRPr sz="1800" b="1">
                <a:solidFill>
                  <a:srgbClr val="FFBF00"/>
                </a:solidFill>
              </a:defRPr>
            </a:pPr>
            <a:r>
              <a:t>9 Tables Relationnelles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users (identités, rôles, avatars)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rooms (les 4 tables de jeux)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reservations (créneaux, statuts)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tournaments &amp; tournament_reg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events &amp; event_registrations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board_games &amp; messages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828800"/>
            <a:ext cx="3291840" cy="4389120"/>
          </a:xfrm>
          <a:prstGeom prst="roundRect">
            <a:avLst/>
          </a:prstGeom>
          <a:solidFill>
            <a:srgbClr val="1C1434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2011680"/>
            <a:ext cx="283464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4D399"/>
                </a:solidFill>
              </a:defRPr>
            </a:pPr>
            <a:r>
              <a:t>COHÉRENCE BDD</a:t>
            </a:r>
          </a:p>
          <a:p>
            <a:pPr>
              <a:spcAft>
                <a:spcPts val="1200"/>
              </a:spcAft>
              <a:defRPr sz="1800" b="1">
                <a:solidFill>
                  <a:srgbClr val="34D399"/>
                </a:solidFill>
              </a:defRPr>
            </a:pPr>
            <a:r>
              <a:t>Intégrité Référentielle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Moteur MySQL InnoDB strict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Clés étrangères ON DELETE CASCADE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Clés primaires composites anti-doublon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Contraintes d'unicité (email, tournoi/user)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828800"/>
            <a:ext cx="3383280" cy="4389120"/>
          </a:xfrm>
          <a:prstGeom prst="roundRect">
            <a:avLst/>
          </a:prstGeom>
          <a:solidFill>
            <a:srgbClr val="1C1434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75320" y="2011680"/>
            <a:ext cx="29260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PERFORMANCES</a:t>
            </a:r>
          </a:p>
          <a:p>
            <a:pPr>
              <a:spcAft>
                <a:spcPts val="1200"/>
              </a:spcAft>
              <a:defRPr sz="1800" b="1">
                <a:solidFill>
                  <a:srgbClr val="38BDF8"/>
                </a:solidFill>
              </a:defRPr>
            </a:pPr>
            <a:r>
              <a:t>Optimisation Indexée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Index idx_reservation_times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Index idx_email pour l'authentification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Typage strict (ENUM, INT UNSIGNED)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Prepared statements systématiques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0D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FBF00"/>
                </a:solidFill>
              </a:defRPr>
            </a:pPr>
            <a:r>
              <a:t>3. ARCHITECTURE &amp; CHOIX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96012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La Stack Technique Fullstack Choisie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1148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C084FC"/>
                </a:solidFill>
              </a:defRPr>
            </a:pPr>
            <a:r>
              <a:t>11 / 30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2468880" cy="4389120"/>
          </a:xfrm>
          <a:prstGeom prst="roundRect">
            <a:avLst/>
          </a:prstGeom>
          <a:solidFill>
            <a:srgbClr val="1C1434"/>
          </a:solidFill>
          <a:ln w="19050">
            <a:solidFill>
              <a:srgbClr val="FFB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011680"/>
            <a:ext cx="20116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FBF00"/>
                </a:solidFill>
              </a:defRPr>
            </a:pPr>
            <a:r>
              <a:t>CLIENT</a:t>
            </a:r>
          </a:p>
          <a:p>
            <a:pPr>
              <a:spcAft>
                <a:spcPts val="1200"/>
              </a:spcAft>
              <a:defRPr sz="1800" b="1">
                <a:solidFill>
                  <a:srgbClr val="FFBF00"/>
                </a:solidFill>
              </a:defRPr>
            </a:pPr>
            <a:r>
              <a:t>Frontend SPA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React 18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Vite 7 (Build rapide)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Tailwind CSS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Lucide Icons (SVG purs)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React Router DOM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828800"/>
            <a:ext cx="2468880" cy="4389120"/>
          </a:xfrm>
          <a:prstGeom prst="roundRect">
            <a:avLst/>
          </a:prstGeom>
          <a:solidFill>
            <a:srgbClr val="1C1434"/>
          </a:solidFill>
          <a:ln w="1905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03320" y="2011680"/>
            <a:ext cx="20116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C084FC"/>
                </a:solidFill>
              </a:defRPr>
            </a:pPr>
            <a:r>
              <a:t>SERVEUR</a:t>
            </a:r>
          </a:p>
          <a:p>
            <a:pPr>
              <a:spcAft>
                <a:spcPts val="1200"/>
              </a:spcAft>
              <a:defRPr sz="1800" b="1">
                <a:solidFill>
                  <a:srgbClr val="C084FC"/>
                </a:solidFill>
              </a:defRPr>
            </a:pPr>
            <a:r>
              <a:t>Backend REST API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Node.js (Runtime)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Express 4 (Framework)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Architecture MVC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Middlewares de contrôle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Fast-XML-Parser (Proxy)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828800"/>
            <a:ext cx="2468880" cy="4389120"/>
          </a:xfrm>
          <a:prstGeom prst="roundRect">
            <a:avLst/>
          </a:prstGeom>
          <a:solidFill>
            <a:srgbClr val="1C1434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2011680"/>
            <a:ext cx="20116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STOCKAGE</a:t>
            </a:r>
          </a:p>
          <a:p>
            <a:pPr>
              <a:spcAft>
                <a:spcPts val="1200"/>
              </a:spcAft>
              <a:defRPr sz="1800" b="1">
                <a:solidFill>
                  <a:srgbClr val="38BDF8"/>
                </a:solidFill>
              </a:defRPr>
            </a:pPr>
            <a:r>
              <a:t>Base de Données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MySQL 8.0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Moteur InnoDB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mysql2/promise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Connection Pooling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Transactions ACID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61120" y="1828800"/>
            <a:ext cx="2468880" cy="4389120"/>
          </a:xfrm>
          <a:prstGeom prst="roundRect">
            <a:avLst/>
          </a:prstGeom>
          <a:solidFill>
            <a:srgbClr val="1C1434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89720" y="2011680"/>
            <a:ext cx="20116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4D399"/>
                </a:solidFill>
              </a:defRPr>
            </a:pPr>
            <a:r>
              <a:t>OUTILLAGE</a:t>
            </a:r>
          </a:p>
          <a:p>
            <a:pPr>
              <a:spcAft>
                <a:spcPts val="1200"/>
              </a:spcAft>
              <a:defRPr sz="1800" b="1">
                <a:solidFill>
                  <a:srgbClr val="34D399"/>
                </a:solidFill>
              </a:defRPr>
            </a:pPr>
            <a:r>
              <a:t>Sécurité &amp; DevOps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JSON Web Tokens (JWT)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Bcrypt (Hachage)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Multer (Upload contrôlé)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Puppeteer (Tests E2E)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Docker &amp; Git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0D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FBF00"/>
                </a:solidFill>
              </a:defRPr>
            </a:pPr>
            <a:r>
              <a:t>3. ARCHITECTURE &amp; CHOIX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96012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Justification : React 18 &amp; Vite 7 (Frontend)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1148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C084FC"/>
                </a:solidFill>
              </a:defRPr>
            </a:pPr>
            <a:r>
              <a:t>12 / 30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3291840" cy="4389120"/>
          </a:xfrm>
          <a:prstGeom prst="roundRect">
            <a:avLst/>
          </a:prstGeom>
          <a:solidFill>
            <a:srgbClr val="1C1434"/>
          </a:solidFill>
          <a:ln w="19050">
            <a:solidFill>
              <a:srgbClr val="FFB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011680"/>
            <a:ext cx="283464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FBF00"/>
                </a:solidFill>
              </a:defRPr>
            </a:pPr>
            <a:r>
              <a:t>EXPÉRIENCE CLIENT</a:t>
            </a:r>
          </a:p>
          <a:p>
            <a:pPr>
              <a:spcAft>
                <a:spcPts val="1200"/>
              </a:spcAft>
              <a:defRPr sz="1800" b="1">
                <a:solidFill>
                  <a:srgbClr val="FFBF00"/>
                </a:solidFill>
              </a:defRPr>
            </a:pPr>
            <a:r>
              <a:t>Architecture SPA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Aucun rechargement de page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Fluidité de navigation totale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État conservé en mémoire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Consommation brute de JSON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Ressenti application native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828800"/>
            <a:ext cx="3291840" cy="4389120"/>
          </a:xfrm>
          <a:prstGeom prst="roundRect">
            <a:avLst/>
          </a:prstGeom>
          <a:solidFill>
            <a:srgbClr val="1C1434"/>
          </a:solidFill>
          <a:ln w="1905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2011680"/>
            <a:ext cx="283464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C084FC"/>
                </a:solidFill>
              </a:defRPr>
            </a:pPr>
            <a:r>
              <a:t>DÉVELOPPEMENT</a:t>
            </a:r>
          </a:p>
          <a:p>
            <a:pPr>
              <a:spcAft>
                <a:spcPts val="1200"/>
              </a:spcAft>
              <a:defRPr sz="1800" b="1">
                <a:solidFill>
                  <a:srgbClr val="C084FC"/>
                </a:solidFill>
              </a:defRPr>
            </a:pPr>
            <a:r>
              <a:t>React 18 &amp; Composants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Écosystème robuste et standard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Isolation des logiques d'état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useTransition pour la réactivité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Composants UI modulaires et testables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Virtual DOM ultra-performant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828800"/>
            <a:ext cx="3383280" cy="4389120"/>
          </a:xfrm>
          <a:prstGeom prst="roundRect">
            <a:avLst/>
          </a:prstGeom>
          <a:solidFill>
            <a:srgbClr val="1C1434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75320" y="2011680"/>
            <a:ext cx="29260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OUTILLAGE</a:t>
            </a:r>
          </a:p>
          <a:p>
            <a:pPr>
              <a:spcAft>
                <a:spcPts val="1200"/>
              </a:spcAft>
              <a:defRPr sz="1800" b="1">
                <a:solidFill>
                  <a:srgbClr val="38BDF8"/>
                </a:solidFill>
              </a:defRPr>
            </a:pPr>
            <a:r>
              <a:t>Vite 7 &amp; ES Modules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Démarrage serveur &lt; 1 seconde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Hot Module Replacement (HMR) direct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Bundling optimisé sous Rollup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Tree-shaking strict sur Lucide Icons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Productivité décuplée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0D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FBF00"/>
                </a:solidFill>
              </a:defRPr>
            </a:pPr>
            <a:r>
              <a:t>3. ARCHITECTURE &amp; CHOIX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96012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Justification : Node.js, Express &amp; MySQL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1148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C084FC"/>
                </a:solidFill>
              </a:defRPr>
            </a:pPr>
            <a:r>
              <a:t>13 / 30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3291840" cy="4389120"/>
          </a:xfrm>
          <a:prstGeom prst="roundRect">
            <a:avLst/>
          </a:prstGeom>
          <a:solidFill>
            <a:srgbClr val="1C1434"/>
          </a:solidFill>
          <a:ln w="19050">
            <a:solidFill>
              <a:srgbClr val="FFB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011680"/>
            <a:ext cx="283464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FBF00"/>
                </a:solidFill>
              </a:defRPr>
            </a:pPr>
            <a:r>
              <a:t>ASYNCHRONISME</a:t>
            </a:r>
          </a:p>
          <a:p>
            <a:pPr>
              <a:spcAft>
                <a:spcPts val="1200"/>
              </a:spcAft>
              <a:defRPr sz="1800" b="1">
                <a:solidFill>
                  <a:srgbClr val="FFBF00"/>
                </a:solidFill>
              </a:defRPr>
            </a:pPr>
            <a:r>
              <a:t>Node.js &amp; Event Loop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Modèle I/O asynchrone non-bloquant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Gestion efficace des pics de requêtes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Un seul langage : JS du front au back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Performances élevées sur requêtes web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828800"/>
            <a:ext cx="3291840" cy="4389120"/>
          </a:xfrm>
          <a:prstGeom prst="roundRect">
            <a:avLst/>
          </a:prstGeom>
          <a:solidFill>
            <a:srgbClr val="1C1434"/>
          </a:solidFill>
          <a:ln w="1905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2011680"/>
            <a:ext cx="283464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C084FC"/>
                </a:solidFill>
              </a:defRPr>
            </a:pPr>
            <a:r>
              <a:t>ARCHITECTURE API</a:t>
            </a:r>
          </a:p>
          <a:p>
            <a:pPr>
              <a:spcAft>
                <a:spcPts val="1200"/>
              </a:spcAft>
              <a:defRPr sz="1800" b="1">
                <a:solidFill>
                  <a:srgbClr val="C084FC"/>
                </a:solidFill>
              </a:defRPr>
            </a:pPr>
            <a:r>
              <a:t>Express Pipeline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Contrôle total des middlewares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Filtrage CORS strict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Interception d'erreurs centralisée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Structure MVC claire et pérenne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828800"/>
            <a:ext cx="3383280" cy="4389120"/>
          </a:xfrm>
          <a:prstGeom prst="roundRect">
            <a:avLst/>
          </a:prstGeom>
          <a:solidFill>
            <a:srgbClr val="1C1434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75320" y="2011680"/>
            <a:ext cx="29260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4D399"/>
                </a:solidFill>
              </a:defRPr>
            </a:pPr>
            <a:r>
              <a:t>FIABILITÉ DONNÉES</a:t>
            </a:r>
          </a:p>
          <a:p>
            <a:pPr>
              <a:spcAft>
                <a:spcPts val="1200"/>
              </a:spcAft>
              <a:defRPr sz="1800" b="1">
                <a:solidFill>
                  <a:srgbClr val="34D399"/>
                </a:solidFill>
              </a:defRPr>
            </a:pPr>
            <a:r>
              <a:t>MySQL 8 Relationnel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Rejet catégorique du NoSQL (besoin ACID)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Pool de connexions mysql2 persistant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Requêtes préparées anti-injection SQL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Transactions pour l'anti-surbooking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0D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FBF00"/>
                </a:solidFill>
              </a:defRPr>
            </a:pPr>
            <a:r>
              <a:t>3. ARCHITECTURE &amp; CHOIX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96012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Environnement, Qualité &amp; Versioning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1148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C084FC"/>
                </a:solidFill>
              </a:defRPr>
            </a:pPr>
            <a:r>
              <a:t>14 / 30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3291840" cy="4389120"/>
          </a:xfrm>
          <a:prstGeom prst="roundRect">
            <a:avLst/>
          </a:prstGeom>
          <a:solidFill>
            <a:srgbClr val="1C1434"/>
          </a:solidFill>
          <a:ln w="19050">
            <a:solidFill>
              <a:srgbClr val="FFB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011680"/>
            <a:ext cx="283464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FBF00"/>
                </a:solidFill>
              </a:defRPr>
            </a:pPr>
            <a:r>
              <a:t>VERSIONING</a:t>
            </a:r>
          </a:p>
          <a:p>
            <a:pPr>
              <a:spcAft>
                <a:spcPts val="1200"/>
              </a:spcAft>
              <a:defRPr sz="1800" b="1">
                <a:solidFill>
                  <a:srgbClr val="FFBF00"/>
                </a:solidFill>
              </a:defRPr>
            </a:pPr>
            <a:r>
              <a:t>Git &amp; Conventions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Conventional Commits stricts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feat(...), fix(...), refactor(...)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Historique lisible et traçable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Gestion de branches par feature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828800"/>
            <a:ext cx="3291840" cy="4389120"/>
          </a:xfrm>
          <a:prstGeom prst="roundRect">
            <a:avLst/>
          </a:prstGeom>
          <a:solidFill>
            <a:srgbClr val="1C1434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2011680"/>
            <a:ext cx="283464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DEVOPS</a:t>
            </a:r>
          </a:p>
          <a:p>
            <a:pPr>
              <a:spcAft>
                <a:spcPts val="1200"/>
              </a:spcAft>
              <a:defRPr sz="1800" b="1">
                <a:solidFill>
                  <a:srgbClr val="38BDF8"/>
                </a:solidFill>
              </a:defRPr>
            </a:pPr>
            <a:r>
              <a:t>Conteneurisation Docker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Environnement isolé et reproductible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Fichier docker-compose.yml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Service MySQL 8 conteneurisé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Zéro écart dev / recette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828800"/>
            <a:ext cx="3383280" cy="4389120"/>
          </a:xfrm>
          <a:prstGeom prst="roundRect">
            <a:avLst/>
          </a:prstGeom>
          <a:solidFill>
            <a:srgbClr val="1C1434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75320" y="2011680"/>
            <a:ext cx="29260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4D399"/>
                </a:solidFill>
              </a:defRPr>
            </a:pPr>
            <a:r>
              <a:t>FIABILITÉ</a:t>
            </a:r>
          </a:p>
          <a:p>
            <a:pPr>
              <a:spcAft>
                <a:spcPts val="1200"/>
              </a:spcAft>
              <a:defRPr sz="1800" b="1">
                <a:solidFill>
                  <a:srgbClr val="34D399"/>
                </a:solidFill>
              </a:defRPr>
            </a:pPr>
            <a:r>
              <a:t>Assurance Qualité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Postman pour recette des routes API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Puppeteer pour validation E2E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Figma pour fidélité UI/UX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Audits de sécurité réguliers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0D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FBF00"/>
                </a:solidFill>
              </a:defRPr>
            </a:pPr>
            <a:r>
              <a:t>4. DÉVELOPPEMENT (F1)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96012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Moteur de Réservation &amp; Anti-Surbooking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1148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C084FC"/>
                </a:solidFill>
              </a:defRPr>
            </a:pPr>
            <a:r>
              <a:t>15 / 30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120640" cy="4389120"/>
          </a:xfrm>
          <a:prstGeom prst="roundRect">
            <a:avLst/>
          </a:prstGeom>
          <a:solidFill>
            <a:srgbClr val="1C1434"/>
          </a:solidFill>
          <a:ln w="1905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011680"/>
            <a:ext cx="466344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87171"/>
                </a:solidFill>
              </a:defRPr>
            </a:pPr>
            <a:r>
              <a:t>PROBLÉMATIQUE</a:t>
            </a:r>
          </a:p>
          <a:p>
            <a:pPr>
              <a:spcAft>
                <a:spcPts val="1200"/>
              </a:spcAft>
              <a:defRPr sz="1800" b="1">
                <a:solidFill>
                  <a:srgbClr val="F87171"/>
                </a:solidFill>
              </a:defRPr>
            </a:pPr>
            <a:r>
              <a:t>Le Besoin Métier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Établissement limité à 4 tables physiques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Empêcher formellement deux réservations concurrentes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Garantir qu'un jeu unique (stock = 1) ne soit pas pris 2 fois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Donner au joueur la visibilité immédiate sur les heures libres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828800"/>
            <a:ext cx="5212080" cy="4389120"/>
          </a:xfrm>
          <a:prstGeom prst="roundRect">
            <a:avLst/>
          </a:prstGeom>
          <a:solidFill>
            <a:srgbClr val="1C1434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2011680"/>
            <a:ext cx="47548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4D399"/>
                </a:solidFill>
              </a:defRPr>
            </a:pPr>
            <a:r>
              <a:t>FONCTIONNALITÉ</a:t>
            </a:r>
          </a:p>
          <a:p>
            <a:pPr>
              <a:spcAft>
                <a:spcPts val="1200"/>
              </a:spcAft>
              <a:defRPr sz="1800" b="1">
                <a:solidFill>
                  <a:srgbClr val="34D399"/>
                </a:solidFill>
              </a:defRPr>
            </a:pPr>
            <a:r>
              <a:t>La Solution Développée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Page de réservation réactive avec calendrier personnalisé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Grille horaire dynamique heure par heure (vert/orange/rouge)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Calcul automatique de l'heure de fin selon la durée choisie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Attribution automatique de la 1ère table physique libre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0D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FBF00"/>
                </a:solidFill>
              </a:defRPr>
            </a:pPr>
            <a:r>
              <a:t>4. DÉVELOPPEMENT (F1)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96012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Algorithme d'Overlap &amp; Sécurité SQL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1148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C084FC"/>
                </a:solidFill>
              </a:defRPr>
            </a:pPr>
            <a:r>
              <a:t>16 / 30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120640" cy="4389120"/>
          </a:xfrm>
          <a:prstGeom prst="roundRect">
            <a:avLst/>
          </a:prstGeom>
          <a:solidFill>
            <a:srgbClr val="1C1434"/>
          </a:solidFill>
          <a:ln w="1905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011680"/>
            <a:ext cx="466344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87171"/>
                </a:solidFill>
              </a:defRPr>
            </a:pPr>
            <a:r>
              <a:t>OBSTACLE</a:t>
            </a:r>
          </a:p>
          <a:p>
            <a:pPr>
              <a:spcAft>
                <a:spcPts val="1200"/>
              </a:spcAft>
              <a:defRPr sz="1800" b="1">
                <a:solidFill>
                  <a:srgbClr val="F87171"/>
                </a:solidFill>
              </a:defRPr>
            </a:pPr>
            <a:r>
              <a:t>La Difficulté Rencontrée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Cas limites des chevauchements partiels d'horaires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Une session de 14h à 16h entre en collision avec 15h-17h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Risque d'écrasement en cas de clics quasi-simultanés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Gestion conjointe de la table ET du stock du jeu emprunté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828800"/>
            <a:ext cx="5212080" cy="4389120"/>
          </a:xfrm>
          <a:prstGeom prst="roundRect">
            <a:avLst/>
          </a:prstGeom>
          <a:solidFill>
            <a:srgbClr val="1C1434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2011680"/>
            <a:ext cx="47548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4D399"/>
                </a:solidFill>
              </a:defRPr>
            </a:pPr>
            <a:r>
              <a:t>RÉSOLUTION</a:t>
            </a:r>
          </a:p>
          <a:p>
            <a:pPr>
              <a:spcAft>
                <a:spcPts val="1200"/>
              </a:spcAft>
              <a:defRPr sz="1800" b="1">
                <a:solidFill>
                  <a:srgbClr val="34D399"/>
                </a:solidFill>
              </a:defRPr>
            </a:pPr>
            <a:r>
              <a:t>La Résolution Technique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Formule mathématique d'overlap temporel :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start_time &lt; newEndTime AND end_time &gt; newStartTime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Filtrage SQL strict sur les réservations actives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Transaction SQL atomique (START TRANSACTION / ROLLBACK)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Exception HTTP 400 claire en cas de saturation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0D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FBF00"/>
                </a:solidFill>
              </a:defRPr>
            </a:pPr>
            <a:r>
              <a:t>4. DÉVELOPPEMENT (F2)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96012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Inscriptions &amp; Gestion des Tournois TCG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1148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C084FC"/>
                </a:solidFill>
              </a:defRPr>
            </a:pPr>
            <a:r>
              <a:t>17 / 30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120640" cy="4389120"/>
          </a:xfrm>
          <a:prstGeom prst="roundRect">
            <a:avLst/>
          </a:prstGeom>
          <a:solidFill>
            <a:srgbClr val="1C1434"/>
          </a:solidFill>
          <a:ln w="1905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011680"/>
            <a:ext cx="466344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87171"/>
                </a:solidFill>
              </a:defRPr>
            </a:pPr>
            <a:r>
              <a:t>PROBLÉMATIQUE</a:t>
            </a:r>
          </a:p>
          <a:p>
            <a:pPr>
              <a:spcAft>
                <a:spcPts val="1200"/>
              </a:spcAft>
              <a:defRPr sz="1800" b="1">
                <a:solidFill>
                  <a:srgbClr val="F87171"/>
                </a:solidFill>
              </a:defRPr>
            </a:pPr>
            <a:r>
              <a:t>Le Besoin Métier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Gestion hebdomadaire des tournois (Magic, Pokémon, Lorcana)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Respect strict de la jauge maximale de joueurs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Inscription et désinscription en autonomie par le joueur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Affichage instantané des places restantes sans rechargement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828800"/>
            <a:ext cx="5212080" cy="4389120"/>
          </a:xfrm>
          <a:prstGeom prst="roundRect">
            <a:avLst/>
          </a:prstGeom>
          <a:solidFill>
            <a:srgbClr val="1C1434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2011680"/>
            <a:ext cx="47548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4D399"/>
                </a:solidFill>
              </a:defRPr>
            </a:pPr>
            <a:r>
              <a:t>FONCTIONNALITÉ</a:t>
            </a:r>
          </a:p>
          <a:p>
            <a:pPr>
              <a:spcAft>
                <a:spcPts val="1200"/>
              </a:spcAft>
              <a:defRPr sz="1800" b="1">
                <a:solidFill>
                  <a:srgbClr val="34D399"/>
                </a:solidFill>
              </a:defRPr>
            </a:pPr>
            <a:r>
              <a:t>La Solution Développée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Page Tournaments.jsx avec filtres par jeu de cartes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Jauges visuelles progressives de remplissage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Bouton intelligent : S'inscrire / Déjà inscrit / Complet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Accordéon interactif affichant la liste des participants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0D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FBF00"/>
                </a:solidFill>
              </a:defRPr>
            </a:pPr>
            <a:r>
              <a:t>4. DÉVELOPPEMENT (F2)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96012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Intégrité SQL &amp; Concurrence d'Inscription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1148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C084FC"/>
                </a:solidFill>
              </a:defRPr>
            </a:pPr>
            <a:r>
              <a:t>18 / 30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120640" cy="4389120"/>
          </a:xfrm>
          <a:prstGeom prst="roundRect">
            <a:avLst/>
          </a:prstGeom>
          <a:solidFill>
            <a:srgbClr val="1C1434"/>
          </a:solidFill>
          <a:ln w="1905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011680"/>
            <a:ext cx="466344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87171"/>
                </a:solidFill>
              </a:defRPr>
            </a:pPr>
            <a:r>
              <a:t>OBSTACLE</a:t>
            </a:r>
          </a:p>
          <a:p>
            <a:pPr>
              <a:spcAft>
                <a:spcPts val="1200"/>
              </a:spcAft>
              <a:defRPr sz="1800" b="1">
                <a:solidFill>
                  <a:srgbClr val="F87171"/>
                </a:solidFill>
              </a:defRPr>
            </a:pPr>
            <a:r>
              <a:t>La Difficulté Rencontrée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Double-clic rapide provoquant une double inscription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Risque de dépassement de jauge sur deux requêtes concurrentes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Mise à jour visuelle ciblée sans recharger tout l'écran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Blocage potentiel de l'interface globale lors du chargement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828800"/>
            <a:ext cx="5212080" cy="4389120"/>
          </a:xfrm>
          <a:prstGeom prst="roundRect">
            <a:avLst/>
          </a:prstGeom>
          <a:solidFill>
            <a:srgbClr val="1C1434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2011680"/>
            <a:ext cx="47548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4D399"/>
                </a:solidFill>
              </a:defRPr>
            </a:pPr>
            <a:r>
              <a:t>RÉSOLUTION</a:t>
            </a:r>
          </a:p>
          <a:p>
            <a:pPr>
              <a:spcAft>
                <a:spcPts val="1200"/>
              </a:spcAft>
              <a:defRPr sz="1800" b="1">
                <a:solidFill>
                  <a:srgbClr val="34D399"/>
                </a:solidFill>
              </a:defRPr>
            </a:pPr>
            <a:r>
              <a:t>La Résolution Technique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Clé primaire composite SQL : (tournament_id, user_id)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Interception de l'erreur native MySQL : ER_DUP_ENTRY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Contrôle de jauge avant insertion (registered &lt; capacity)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Isolation du state de chargement (actionLoadingId)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Mise à jour réactive du state React local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0D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FBF00"/>
                </a:solidFill>
              </a:defRPr>
            </a:pPr>
            <a:r>
              <a:t>4. DÉVELOPPEMENT (F3)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96012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Console d'Administration &amp; Gestion Stocks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1148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C084FC"/>
                </a:solidFill>
              </a:defRPr>
            </a:pPr>
            <a:r>
              <a:t>19 / 30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120640" cy="4389120"/>
          </a:xfrm>
          <a:prstGeom prst="roundRect">
            <a:avLst/>
          </a:prstGeom>
          <a:solidFill>
            <a:srgbClr val="1C1434"/>
          </a:solidFill>
          <a:ln w="1905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011680"/>
            <a:ext cx="466344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87171"/>
                </a:solidFill>
              </a:defRPr>
            </a:pPr>
            <a:r>
              <a:t>PROBLÉMATIQUE</a:t>
            </a:r>
          </a:p>
          <a:p>
            <a:pPr>
              <a:spcAft>
                <a:spcPts val="1200"/>
              </a:spcAft>
              <a:defRPr sz="1800" b="1">
                <a:solidFill>
                  <a:srgbClr val="F87171"/>
                </a:solidFill>
              </a:defRPr>
            </a:pPr>
            <a:r>
              <a:t>Le Besoin Métier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Centraliser la gestion globale du café en une seule interface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Contrôler les réservations, tournois, membres et messages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Permettre au gérant de modifier les stocks boutique en direct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Éviter les erreurs de manipulation ou suppressions involontaires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828800"/>
            <a:ext cx="5212080" cy="4389120"/>
          </a:xfrm>
          <a:prstGeom prst="roundRect">
            <a:avLst/>
          </a:prstGeom>
          <a:solidFill>
            <a:srgbClr val="1C1434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2011680"/>
            <a:ext cx="47548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4D399"/>
                </a:solidFill>
              </a:defRPr>
            </a:pPr>
            <a:r>
              <a:t>FONCTIONNALITÉ</a:t>
            </a:r>
          </a:p>
          <a:p>
            <a:pPr>
              <a:spcAft>
                <a:spcPts val="1200"/>
              </a:spcAft>
              <a:defRPr sz="1800" b="1">
                <a:solidFill>
                  <a:srgbClr val="34D399"/>
                </a:solidFill>
              </a:defRPr>
            </a:pPr>
            <a:r>
              <a:t>La Solution Développée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DashboardAdmin.jsx structuré en 6 onglets dédiés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Contrôle rapide des stocks boutique via boutons (+ / -)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Messagerie support avec fil de réponses multi-tours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Modales de confirmation strictes avant suppression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0D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FBF00"/>
                </a:solidFill>
              </a:defRPr>
            </a:pPr>
            <a:r>
              <a:t>4. DÉVELOPPEMENT (F3)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96012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Sécurité RBAC &amp; Ergonomie Back-Office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1148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C084FC"/>
                </a:solidFill>
              </a:defRPr>
            </a:pPr>
            <a:r>
              <a:t>20 / 30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120640" cy="4389120"/>
          </a:xfrm>
          <a:prstGeom prst="roundRect">
            <a:avLst/>
          </a:prstGeom>
          <a:solidFill>
            <a:srgbClr val="1C1434"/>
          </a:solidFill>
          <a:ln w="1905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011680"/>
            <a:ext cx="466344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87171"/>
                </a:solidFill>
              </a:defRPr>
            </a:pPr>
            <a:r>
              <a:t>OBSTACLE</a:t>
            </a:r>
          </a:p>
          <a:p>
            <a:pPr>
              <a:spcAft>
                <a:spcPts val="1200"/>
              </a:spcAft>
              <a:defRPr sz="1800" b="1">
                <a:solidFill>
                  <a:srgbClr val="F87171"/>
                </a:solidFill>
              </a:defRPr>
            </a:pPr>
            <a:r>
              <a:t>La Difficulté Rencontrée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Empêcher tout accès illégitime aux données sensibles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Volume important de réservations difficile à lire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Maintien de la cohérence visuelle des alertes sans WebSockets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Temps de réponse instantané exigé sur l'ajustement de stock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828800"/>
            <a:ext cx="5212080" cy="4389120"/>
          </a:xfrm>
          <a:prstGeom prst="roundRect">
            <a:avLst/>
          </a:prstGeom>
          <a:solidFill>
            <a:srgbClr val="1C1434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2011680"/>
            <a:ext cx="47548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4D399"/>
                </a:solidFill>
              </a:defRPr>
            </a:pPr>
            <a:r>
              <a:t>RÉSOLUTION</a:t>
            </a:r>
          </a:p>
          <a:p>
            <a:pPr>
              <a:spcAft>
                <a:spcPts val="1200"/>
              </a:spcAft>
              <a:defRPr sz="1800" b="1">
                <a:solidFill>
                  <a:srgbClr val="34D399"/>
                </a:solidFill>
              </a:defRPr>
            </a:pPr>
            <a:r>
              <a:t>La Résolution Technique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Double barrière RBAC : vérif token front + middleware 403 back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Moteur de tri dynamique multi-colonnes côté client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Pastille rouge synchronisée par événement messages_updated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Requêtes AJAX asynchrones PATCH pour mise à jour stock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0D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FBF00"/>
                </a:solidFill>
              </a:defRPr>
            </a:pPr>
            <a:r>
              <a:t>4. DÉVELOPPEMENT (F4)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96012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Proxy BoardGameGeek &amp; Enrichissement Catalogue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1148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C084FC"/>
                </a:solidFill>
              </a:defRPr>
            </a:pPr>
            <a:r>
              <a:t>21 / 30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120640" cy="4389120"/>
          </a:xfrm>
          <a:prstGeom prst="roundRect">
            <a:avLst/>
          </a:prstGeom>
          <a:solidFill>
            <a:srgbClr val="1C1434"/>
          </a:solidFill>
          <a:ln w="1905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011680"/>
            <a:ext cx="466344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87171"/>
                </a:solidFill>
              </a:defRPr>
            </a:pPr>
            <a:r>
              <a:t>PROBLÉMATIQUE</a:t>
            </a:r>
          </a:p>
          <a:p>
            <a:pPr>
              <a:spcAft>
                <a:spcPts val="1200"/>
              </a:spcAft>
              <a:defRPr sz="1800" b="1">
                <a:solidFill>
                  <a:srgbClr val="F87171"/>
                </a:solidFill>
              </a:defRPr>
            </a:pPr>
            <a:r>
              <a:t>Le Besoin Métier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Saisir 100 fiches de jeux à la main = dizaines d'heures perdues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Besoin de données fiables (joueurs, durées, visuels HD)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L'API officielle BoardGameGeek est la référence mondiale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Permettre au gérant d'importer le catalogue en un seul clic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828800"/>
            <a:ext cx="5212080" cy="4389120"/>
          </a:xfrm>
          <a:prstGeom prst="roundRect">
            <a:avLst/>
          </a:prstGeom>
          <a:solidFill>
            <a:srgbClr val="1C1434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2011680"/>
            <a:ext cx="47548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4D399"/>
                </a:solidFill>
              </a:defRPr>
            </a:pPr>
            <a:r>
              <a:t>FONCTIONNALITÉ</a:t>
            </a:r>
          </a:p>
          <a:p>
            <a:pPr>
              <a:spcAft>
                <a:spcPts val="1200"/>
              </a:spcAft>
              <a:defRPr sz="1800" b="1">
                <a:solidFill>
                  <a:srgbClr val="34D399"/>
                </a:solidFill>
              </a:defRPr>
            </a:pPr>
            <a:r>
              <a:t>La Solution Développée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Bouton 'Importer BGG Hot 100' sur la console admin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Appel automatisé vers l'API XML2 de BoardGameGeek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Parsing et normalisation des métadonnées ludiques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Enregistrement direct dans la table board_games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0D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FBF00"/>
                </a:solidFill>
              </a:defRPr>
            </a:pPr>
            <a:r>
              <a:t>4. DÉVELOPPEMENT (F4)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96012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Transcodage XML/JSON &amp; Haute Résilience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1148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C084FC"/>
                </a:solidFill>
              </a:defRPr>
            </a:pPr>
            <a:r>
              <a:t>22 / 30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120640" cy="4389120"/>
          </a:xfrm>
          <a:prstGeom prst="roundRect">
            <a:avLst/>
          </a:prstGeom>
          <a:solidFill>
            <a:srgbClr val="1C1434"/>
          </a:solidFill>
          <a:ln w="1905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011680"/>
            <a:ext cx="466344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87171"/>
                </a:solidFill>
              </a:defRPr>
            </a:pPr>
            <a:r>
              <a:t>OBSTACLE</a:t>
            </a:r>
          </a:p>
          <a:p>
            <a:pPr>
              <a:spcAft>
                <a:spcPts val="1200"/>
              </a:spcAft>
              <a:defRPr sz="1800" b="1">
                <a:solidFill>
                  <a:srgbClr val="F87171"/>
                </a:solidFill>
              </a:defRPr>
            </a:pPr>
            <a:r>
              <a:t>Deux Défis Techniques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1. Blocage CORS du navigateur sur l'API externe BGG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2. BGG renvoie exclusivement du format XML complexe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3. Risque d'écran blanc si la base MySQL subit une panne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Nécessité de garantir la continuité de consultation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828800"/>
            <a:ext cx="5212080" cy="4389120"/>
          </a:xfrm>
          <a:prstGeom prst="roundRect">
            <a:avLst/>
          </a:prstGeom>
          <a:solidFill>
            <a:srgbClr val="1C1434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2011680"/>
            <a:ext cx="47548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4D399"/>
                </a:solidFill>
              </a:defRPr>
            </a:pPr>
            <a:r>
              <a:t>RÉSOLUTION</a:t>
            </a:r>
          </a:p>
          <a:p>
            <a:pPr>
              <a:spcAft>
                <a:spcPts val="1200"/>
              </a:spcAft>
              <a:defRPr sz="1800" b="1">
                <a:solidFill>
                  <a:srgbClr val="34D399"/>
                </a:solidFill>
              </a:defRPr>
            </a:pPr>
            <a:r>
              <a:t>La Résolution Technique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Proxy backend Node.js éliminant les restrictions CORS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Transcodage XML vers JSON ultra-rapide via fast-xml-parser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Failover automatique : bascule sur boardgame-list.json local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Continuité de service garantie à 100% pour les visiteurs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0D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FBF00"/>
                </a:solidFill>
              </a:defRPr>
            </a:pPr>
            <a:r>
              <a:t>5. POINTS TECHNIQUES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96012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Sécurité OWASP &amp; Conformité RGPD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1148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C084FC"/>
                </a:solidFill>
              </a:defRPr>
            </a:pPr>
            <a:r>
              <a:t>23 / 30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2468880" cy="4389120"/>
          </a:xfrm>
          <a:prstGeom prst="roundRect">
            <a:avLst/>
          </a:prstGeom>
          <a:solidFill>
            <a:srgbClr val="1C1434"/>
          </a:solidFill>
          <a:ln w="19050">
            <a:solidFill>
              <a:srgbClr val="FFB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011680"/>
            <a:ext cx="20116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FBF00"/>
                </a:solidFill>
              </a:defRPr>
            </a:pPr>
            <a:r>
              <a:t>AUTHENTIFICATION</a:t>
            </a:r>
          </a:p>
          <a:p>
            <a:pPr>
              <a:spcAft>
                <a:spcPts val="1200"/>
              </a:spcAft>
              <a:defRPr sz="1800" b="1">
                <a:solidFill>
                  <a:srgbClr val="FFBF00"/>
                </a:solidFill>
              </a:defRPr>
            </a:pPr>
            <a:r>
              <a:t>Mots de Passe &amp; Auth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Hachage Bcrypt (coût 10)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Zéro mot de passe en clair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Tokens JWT signés HMAC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Durée de vie limitée (24h)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828800"/>
            <a:ext cx="2468880" cy="4389120"/>
          </a:xfrm>
          <a:prstGeom prst="roundRect">
            <a:avLst/>
          </a:prstGeom>
          <a:solidFill>
            <a:srgbClr val="1C1434"/>
          </a:solidFill>
          <a:ln w="1905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03320" y="2011680"/>
            <a:ext cx="20116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C084FC"/>
                </a:solidFill>
              </a:defRPr>
            </a:pPr>
            <a:r>
              <a:t>BASE DE DONNÉES</a:t>
            </a:r>
          </a:p>
          <a:p>
            <a:pPr>
              <a:spcAft>
                <a:spcPts val="1200"/>
              </a:spcAft>
              <a:defRPr sz="1800" b="1">
                <a:solidFill>
                  <a:srgbClr val="C084FC"/>
                </a:solidFill>
              </a:defRPr>
            </a:pPr>
            <a:r>
              <a:t>Anti-Injections SQL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mysql2/promise préparé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Placeholders '?' stricts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Séparation code / donnée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Risque neutralisé à 100%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828800"/>
            <a:ext cx="2468880" cy="4389120"/>
          </a:xfrm>
          <a:prstGeom prst="roundRect">
            <a:avLst/>
          </a:prstGeom>
          <a:solidFill>
            <a:srgbClr val="1C1434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2011680"/>
            <a:ext cx="20116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AUTORISATIONS</a:t>
            </a:r>
          </a:p>
          <a:p>
            <a:pPr>
              <a:spcAft>
                <a:spcPts val="1200"/>
              </a:spcAft>
              <a:defRPr sz="1800" b="1">
                <a:solidFill>
                  <a:srgbClr val="38BDF8"/>
                </a:solidFill>
              </a:defRPr>
            </a:pPr>
            <a:r>
              <a:t>Contrôle d'Accès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Middlewares RBAC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Contrôle strict rôle 'ADMIN'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Erreurs 401 &amp; 403 HTTP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CORS limité au client Vite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61120" y="1828800"/>
            <a:ext cx="2468880" cy="4389120"/>
          </a:xfrm>
          <a:prstGeom prst="roundRect">
            <a:avLst/>
          </a:prstGeom>
          <a:solidFill>
            <a:srgbClr val="1C1434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89720" y="2011680"/>
            <a:ext cx="20116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4D399"/>
                </a:solidFill>
              </a:defRPr>
            </a:pPr>
            <a:r>
              <a:t>PROTECTION DONNÉES</a:t>
            </a:r>
          </a:p>
          <a:p>
            <a:pPr>
              <a:spcAft>
                <a:spcPts val="1200"/>
              </a:spcAft>
              <a:defRPr sz="1800" b="1">
                <a:solidFill>
                  <a:srgbClr val="34D399"/>
                </a:solidFill>
              </a:defRPr>
            </a:pPr>
            <a:r>
              <a:t>Conformité RGPD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Minimisation des données (Art. 5)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Pseudo pour anonymat en tournoi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Zéro traceur tiers ni pub (CNIL)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Droit à l'oubli (ON DELETE CASCADE)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0D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FBF00"/>
                </a:solidFill>
              </a:defRPr>
            </a:pPr>
            <a:r>
              <a:t>5. POINTS TECHNIQUES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96012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Sécurisation des Uploads de Fichiers (Multer)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1148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C084FC"/>
                </a:solidFill>
              </a:defRPr>
            </a:pPr>
            <a:r>
              <a:t>24 / 30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3291840" cy="4389120"/>
          </a:xfrm>
          <a:prstGeom prst="roundRect">
            <a:avLst/>
          </a:prstGeom>
          <a:solidFill>
            <a:srgbClr val="1C1434"/>
          </a:solidFill>
          <a:ln w="1905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011680"/>
            <a:ext cx="283464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87171"/>
                </a:solidFill>
              </a:defRPr>
            </a:pPr>
            <a:r>
              <a:t>MENACES</a:t>
            </a:r>
          </a:p>
          <a:p>
            <a:pPr>
              <a:spcAft>
                <a:spcPts val="1200"/>
              </a:spcAft>
              <a:defRPr sz="1800" b="1">
                <a:solidFill>
                  <a:srgbClr val="F87171"/>
                </a:solidFill>
              </a:defRPr>
            </a:pPr>
            <a:r>
              <a:t>Risques Identifiés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Exécution de scripts malveillants (.php / .js)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Traversée de répertoire (injection ../)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Déni de service par saturation de disque (DoS)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Fichiers corrompus ou invisibles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828800"/>
            <a:ext cx="3291840" cy="4389120"/>
          </a:xfrm>
          <a:prstGeom prst="roundRect">
            <a:avLst/>
          </a:prstGeom>
          <a:solidFill>
            <a:srgbClr val="1C1434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2011680"/>
            <a:ext cx="283464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4D399"/>
                </a:solidFill>
              </a:defRPr>
            </a:pPr>
            <a:r>
              <a:t>PARADES</a:t>
            </a:r>
          </a:p>
          <a:p>
            <a:pPr>
              <a:spcAft>
                <a:spcPts val="1200"/>
              </a:spcAft>
              <a:defRPr sz="1800" b="1">
                <a:solidFill>
                  <a:srgbClr val="34D399"/>
                </a:solidFill>
              </a:defRPr>
            </a:pPr>
            <a:r>
              <a:t>Contre-Mesures Multer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Contrôle de type MIME strict (JPEG, PNG, WEBP)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Rejet automatique des extensions exécutables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Renommage avec nom unique (Timestamp + UUID)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Limite matérielle stricte à 2 Mo par fichier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828800"/>
            <a:ext cx="3383280" cy="4389120"/>
          </a:xfrm>
          <a:prstGeom prst="roundRect">
            <a:avLst/>
          </a:prstGeom>
          <a:solidFill>
            <a:srgbClr val="1C1434"/>
          </a:solidFill>
          <a:ln w="19050">
            <a:solidFill>
              <a:srgbClr val="FFB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75320" y="2011680"/>
            <a:ext cx="29260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FBF00"/>
                </a:solidFill>
              </a:defRPr>
            </a:pPr>
            <a:r>
              <a:t>ERGONOMIE</a:t>
            </a:r>
          </a:p>
          <a:p>
            <a:pPr>
              <a:spcAft>
                <a:spcPts val="1200"/>
              </a:spcAft>
              <a:defRPr sz="1800" b="1">
                <a:solidFill>
                  <a:srgbClr val="FFBF00"/>
                </a:solidFill>
              </a:defRPr>
            </a:pPr>
            <a:r>
              <a:t>Expérience Utilisateur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Prévisualisation instantanée (Live Preview)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Feedback direct sur le formulaire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Stockage organisé dans /uploads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Intégration directe aux profils &amp; affiches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0D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FBF00"/>
                </a:solidFill>
              </a:defRPr>
            </a:pPr>
            <a:r>
              <a:t>5. POINTS TECHNIQUES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96012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Assurance Qualité : Tests E2E Automatisés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1148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C084FC"/>
                </a:solidFill>
              </a:defRPr>
            </a:pPr>
            <a:r>
              <a:t>25 / 30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3291840" cy="4389120"/>
          </a:xfrm>
          <a:prstGeom prst="roundRect">
            <a:avLst/>
          </a:prstGeom>
          <a:solidFill>
            <a:srgbClr val="1C1434"/>
          </a:solidFill>
          <a:ln w="19050">
            <a:solidFill>
              <a:srgbClr val="FFB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011680"/>
            <a:ext cx="283464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FBF00"/>
                </a:solidFill>
              </a:defRPr>
            </a:pPr>
            <a:r>
              <a:t>CHOIX DE L'OUTIL</a:t>
            </a:r>
          </a:p>
          <a:p>
            <a:pPr>
              <a:spcAft>
                <a:spcPts val="1200"/>
              </a:spcAft>
              <a:defRPr sz="1800" b="1">
                <a:solidFill>
                  <a:srgbClr val="FFBF00"/>
                </a:solidFill>
              </a:defRPr>
            </a:pPr>
            <a:r>
              <a:t>Pourquoi Puppeteer ?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Contrôle natif du moteur Chromium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Simulation d'un utilisateur réel en conditions réelles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Validation de la chaîne complète : React + API + MySQL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Exécution en mode Headless ultra-rapide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828800"/>
            <a:ext cx="3291840" cy="4389120"/>
          </a:xfrm>
          <a:prstGeom prst="roundRect">
            <a:avLst/>
          </a:prstGeom>
          <a:solidFill>
            <a:srgbClr val="1C1434"/>
          </a:solidFill>
          <a:ln w="1905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2011680"/>
            <a:ext cx="283464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C084FC"/>
                </a:solidFill>
              </a:defRPr>
            </a:pPr>
            <a:r>
              <a:t>SCÉNARIO CRITIQUE</a:t>
            </a:r>
          </a:p>
          <a:p>
            <a:pPr>
              <a:spcAft>
                <a:spcPts val="1200"/>
              </a:spcAft>
              <a:defRPr sz="1800" b="1">
                <a:solidFill>
                  <a:srgbClr val="C084FC"/>
                </a:solidFill>
              </a:defRPr>
            </a:pPr>
            <a:r>
              <a:t>Parcours Testé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1. Connexion membre sécurisée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2. Sélection d'une date &amp; horaire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3. Soumission de réservation de table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4. Vérification du toast de succès &amp; capture d'écran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828800"/>
            <a:ext cx="3383280" cy="4389120"/>
          </a:xfrm>
          <a:prstGeom prst="roundRect">
            <a:avLst/>
          </a:prstGeom>
          <a:solidFill>
            <a:srgbClr val="1C1434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75320" y="2011680"/>
            <a:ext cx="29260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4D399"/>
                </a:solidFill>
              </a:defRPr>
            </a:pPr>
            <a:r>
              <a:t>RENTABILITÉ</a:t>
            </a:r>
          </a:p>
          <a:p>
            <a:pPr>
              <a:spcAft>
                <a:spcPts val="1200"/>
              </a:spcAft>
              <a:defRPr sz="1800" b="1">
                <a:solidFill>
                  <a:srgbClr val="34D399"/>
                </a:solidFill>
              </a:defRPr>
            </a:pPr>
            <a:r>
              <a:t>Bénéfice Concret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30 secondes d'exécution automatique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Remplace 15 minutes de tests manuels répétitifs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Zéro régression bloquante avant livraison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Garantie de fiabilité pour le jury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0D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FBF00"/>
                </a:solidFill>
              </a:defRPr>
            </a:pPr>
            <a:r>
              <a:t>5. POINTS TECHNIQUES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96012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Design System, Identité Visuelle &amp; Accessibilité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1148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C084FC"/>
                </a:solidFill>
              </a:defRPr>
            </a:pPr>
            <a:r>
              <a:t>26 / 30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3291840" cy="4389120"/>
          </a:xfrm>
          <a:prstGeom prst="roundRect">
            <a:avLst/>
          </a:prstGeom>
          <a:solidFill>
            <a:srgbClr val="1C1434"/>
          </a:solidFill>
          <a:ln w="19050">
            <a:solidFill>
              <a:srgbClr val="FFB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011680"/>
            <a:ext cx="283464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FBF00"/>
                </a:solidFill>
              </a:defRPr>
            </a:pPr>
            <a:r>
              <a:t>DIRECTION ARTISTIQUE</a:t>
            </a:r>
          </a:p>
          <a:p>
            <a:pPr>
              <a:spcAft>
                <a:spcPts val="1200"/>
              </a:spcAft>
              <a:defRPr sz="1800" b="1">
                <a:solidFill>
                  <a:srgbClr val="FFBF00"/>
                </a:solidFill>
              </a:defRPr>
            </a:pPr>
            <a:r>
              <a:t>Identité Forte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Palette cohérente Jaune Ambré &amp; Violet Sombre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Ambiance taverne geek / club de jeu moderne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Cartes dépolies en Glassmorphism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Bordures dorées fines et lueurs ambiantes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828800"/>
            <a:ext cx="3291840" cy="4389120"/>
          </a:xfrm>
          <a:prstGeom prst="roundRect">
            <a:avLst/>
          </a:prstGeom>
          <a:solidFill>
            <a:srgbClr val="1C1434"/>
          </a:solidFill>
          <a:ln w="1905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2011680"/>
            <a:ext cx="283464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C084FC"/>
                </a:solidFill>
              </a:defRPr>
            </a:pPr>
            <a:r>
              <a:t>ADAPTABILITÉ</a:t>
            </a:r>
          </a:p>
          <a:p>
            <a:pPr>
              <a:spcAft>
                <a:spcPts val="1200"/>
              </a:spcAft>
              <a:defRPr sz="1800" b="1">
                <a:solidFill>
                  <a:srgbClr val="C084FC"/>
                </a:solidFill>
              </a:defRPr>
            </a:pPr>
            <a:r>
              <a:t>Responsive Mobile-First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Grille adaptative 12 colonnes desktop / 4 mobile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Menu burger optimisé pour écrans tactiles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Tableaux de bord scrollables sans perte d'infos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Composants réutilisables standardisés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828800"/>
            <a:ext cx="3383280" cy="4389120"/>
          </a:xfrm>
          <a:prstGeom prst="roundRect">
            <a:avLst/>
          </a:prstGeom>
          <a:solidFill>
            <a:srgbClr val="1C1434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75320" y="2011680"/>
            <a:ext cx="29260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INCLUSIVITÉ</a:t>
            </a:r>
          </a:p>
          <a:p>
            <a:pPr>
              <a:spcAft>
                <a:spcPts val="1200"/>
              </a:spcAft>
              <a:defRPr sz="1800" b="1">
                <a:solidFill>
                  <a:srgbClr val="38BDF8"/>
                </a:solidFill>
              </a:defRPr>
            </a:pPr>
            <a:r>
              <a:t>Accessibilité (A11y)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Contraste texte/fond respectant les normes WCAG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Icônes doublées de labels explicites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Pastilles de couleur doublées de texte (disponible/complet)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Focus visible sur tous les éléments interactifs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0D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FBF00"/>
                </a:solidFill>
              </a:defRPr>
            </a:pPr>
            <a:r>
              <a:t>6.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96012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Bilan du Projet &amp; Couverture du Référentiel DWWM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1148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C084FC"/>
                </a:solidFill>
              </a:defRPr>
            </a:pPr>
            <a:r>
              <a:t>27 / 30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3291840" cy="4389120"/>
          </a:xfrm>
          <a:prstGeom prst="roundRect">
            <a:avLst/>
          </a:prstGeom>
          <a:solidFill>
            <a:srgbClr val="1C1434"/>
          </a:solidFill>
          <a:ln w="19050">
            <a:solidFill>
              <a:srgbClr val="FFB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011680"/>
            <a:ext cx="283464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FBF00"/>
                </a:solidFill>
              </a:defRPr>
            </a:pPr>
            <a:r>
              <a:t>COMPÉTENCES VALIDÉES</a:t>
            </a:r>
          </a:p>
          <a:p>
            <a:pPr>
              <a:spcAft>
                <a:spcPts val="1200"/>
              </a:spcAft>
              <a:defRPr sz="1800" b="1">
                <a:solidFill>
                  <a:srgbClr val="FFBF00"/>
                </a:solidFill>
              </a:defRPr>
            </a:pPr>
            <a:r>
              <a:t>Activité-Type 1 (Front)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Interfaces dynamiques React 18 &amp; Vite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Design System Tailwind &amp; Responsive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Sécurisation des routes et gestion d'état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Validation formulaires &amp; retours visuels réactifs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828800"/>
            <a:ext cx="3291840" cy="4389120"/>
          </a:xfrm>
          <a:prstGeom prst="roundRect">
            <a:avLst/>
          </a:prstGeom>
          <a:solidFill>
            <a:srgbClr val="1C1434"/>
          </a:solidFill>
          <a:ln w="1905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2011680"/>
            <a:ext cx="283464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C084FC"/>
                </a:solidFill>
              </a:defRPr>
            </a:pPr>
            <a:r>
              <a:t>COMPÉTENCES VALIDÉES</a:t>
            </a:r>
          </a:p>
          <a:p>
            <a:pPr>
              <a:spcAft>
                <a:spcPts val="1200"/>
              </a:spcAft>
              <a:defRPr sz="1800" b="1">
                <a:solidFill>
                  <a:srgbClr val="C084FC"/>
                </a:solidFill>
              </a:defRPr>
            </a:pPr>
            <a:r>
              <a:t>Activité-Type 2 (Back)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API REST complète Node.js / Express MVC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Base de données relationnelle MySQL 8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Authentification JWT &amp; Sécurité OWASP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Algorithmes métiers complexes &amp; résilience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828800"/>
            <a:ext cx="3383280" cy="4389120"/>
          </a:xfrm>
          <a:prstGeom prst="roundRect">
            <a:avLst/>
          </a:prstGeom>
          <a:solidFill>
            <a:srgbClr val="1C1434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75320" y="2011680"/>
            <a:ext cx="29260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4D399"/>
                </a:solidFill>
              </a:defRPr>
            </a:pPr>
            <a:r>
              <a:t>RÉSULTAT</a:t>
            </a:r>
          </a:p>
          <a:p>
            <a:pPr>
              <a:spcAft>
                <a:spcPts val="1200"/>
              </a:spcAft>
              <a:defRPr sz="1800" b="1">
                <a:solidFill>
                  <a:srgbClr val="34D399"/>
                </a:solidFill>
              </a:defRPr>
            </a:pPr>
            <a:r>
              <a:t>Bilan Global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Projet livré et 100% fonctionnel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Alignement parfait avec le besoin du café-boutique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Autonomie technique démontrée de bout en bout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Prêt pour une mise en production réelle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0D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FBF00"/>
                </a:solidFill>
              </a:defRPr>
            </a:pPr>
            <a:r>
              <a:t>6.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96012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Difficultés Surmontées &amp; Enseignements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1148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C084FC"/>
                </a:solidFill>
              </a:defRPr>
            </a:pPr>
            <a:r>
              <a:t>28 / 30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3291840" cy="4389120"/>
          </a:xfrm>
          <a:prstGeom prst="roundRect">
            <a:avLst/>
          </a:prstGeom>
          <a:solidFill>
            <a:srgbClr val="1C1434"/>
          </a:solidFill>
          <a:ln w="1905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011680"/>
            <a:ext cx="283464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87171"/>
                </a:solidFill>
              </a:defRPr>
            </a:pPr>
            <a:r>
              <a:t>DÉFIS TECHNIQUES</a:t>
            </a:r>
          </a:p>
          <a:p>
            <a:pPr>
              <a:spcAft>
                <a:spcPts val="1200"/>
              </a:spcAft>
              <a:defRPr sz="1800" b="1">
                <a:solidFill>
                  <a:srgbClr val="F87171"/>
                </a:solidFill>
              </a:defRPr>
            </a:pPr>
            <a:r>
              <a:t>Ce qui a été Complexe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Gestion fine des intervalles de réservation SQL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Isolation des états asynchrones en React 18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Parsing robuste des flux XML externes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Gestion rigoureuse du temps et du périmètre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828800"/>
            <a:ext cx="3291840" cy="4389120"/>
          </a:xfrm>
          <a:prstGeom prst="roundRect">
            <a:avLst/>
          </a:prstGeom>
          <a:solidFill>
            <a:srgbClr val="1C1434"/>
          </a:solidFill>
          <a:ln w="19050">
            <a:solidFill>
              <a:srgbClr val="FFB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2011680"/>
            <a:ext cx="283464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FBF00"/>
                </a:solidFill>
              </a:defRPr>
            </a:pPr>
            <a:r>
              <a:t>APPRENTISSAGES</a:t>
            </a:r>
          </a:p>
          <a:p>
            <a:pPr>
              <a:spcAft>
                <a:spcPts val="1200"/>
              </a:spcAft>
              <a:defRPr sz="1800" b="1">
                <a:solidFill>
                  <a:srgbClr val="FFBF00"/>
                </a:solidFill>
              </a:defRPr>
            </a:pPr>
            <a:r>
              <a:t>Ce que j'ai Appris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La conception BDD préalable évite 80% des bugs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L'importance des requêtes préparées et de l'intégrité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La rigueur des conventions Git et des commits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Relier chaque choix technique à un besoin métier réel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828800"/>
            <a:ext cx="3383280" cy="4389120"/>
          </a:xfrm>
          <a:prstGeom prst="roundRect">
            <a:avLst/>
          </a:prstGeom>
          <a:solidFill>
            <a:srgbClr val="1C1434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75320" y="2011680"/>
            <a:ext cx="29260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4D399"/>
                </a:solidFill>
              </a:defRPr>
            </a:pPr>
            <a:r>
              <a:t>ÉVOLUTION</a:t>
            </a:r>
          </a:p>
          <a:p>
            <a:pPr>
              <a:spcAft>
                <a:spcPts val="1200"/>
              </a:spcAft>
              <a:defRPr sz="1800" b="1">
                <a:solidFill>
                  <a:srgbClr val="34D399"/>
                </a:solidFill>
              </a:defRPr>
            </a:pPr>
            <a:r>
              <a:t>Posture Professionnelle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Méthode de débogage structurée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Recherche autonome dans la doc technique anglophone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Capacité à arbitrer entre perfection et livrable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Confiance pour intégrer une équipe dev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0D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FBF00"/>
                </a:solidFill>
              </a:defRPr>
            </a:pPr>
            <a:r>
              <a:t>6.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96012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Perspectives d'Évolution (Feuille de Route V2)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1148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C084FC"/>
                </a:solidFill>
              </a:defRPr>
            </a:pPr>
            <a:r>
              <a:t>29 / 30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3291840" cy="4389120"/>
          </a:xfrm>
          <a:prstGeom prst="roundRect">
            <a:avLst/>
          </a:prstGeom>
          <a:solidFill>
            <a:srgbClr val="1C1434"/>
          </a:solidFill>
          <a:ln w="19050">
            <a:solidFill>
              <a:srgbClr val="FFB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011680"/>
            <a:ext cx="283464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FBF00"/>
                </a:solidFill>
              </a:defRPr>
            </a:pPr>
            <a:r>
              <a:t>ÉVOLUTION 1</a:t>
            </a:r>
          </a:p>
          <a:p>
            <a:pPr>
              <a:spcAft>
                <a:spcPts val="1200"/>
              </a:spcAft>
              <a:defRPr sz="1800" b="1">
                <a:solidFill>
                  <a:srgbClr val="FFBF00"/>
                </a:solidFill>
              </a:defRPr>
            </a:pPr>
            <a:r>
              <a:t>Paiement en Ligne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Intégration Stripe Checkout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Paiement direct des droits d'entrée aux tournois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Sécurisation des réservations par acompte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Webhooks bancaires sécurisés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828800"/>
            <a:ext cx="3291840" cy="4389120"/>
          </a:xfrm>
          <a:prstGeom prst="roundRect">
            <a:avLst/>
          </a:prstGeom>
          <a:solidFill>
            <a:srgbClr val="1C1434"/>
          </a:solidFill>
          <a:ln w="1905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2011680"/>
            <a:ext cx="283464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C084FC"/>
                </a:solidFill>
              </a:defRPr>
            </a:pPr>
            <a:r>
              <a:t>ÉVOLUTION 2</a:t>
            </a:r>
          </a:p>
          <a:p>
            <a:pPr>
              <a:spcAft>
                <a:spcPts val="1200"/>
              </a:spcAft>
              <a:defRPr sz="1800" b="1">
                <a:solidFill>
                  <a:srgbClr val="C084FC"/>
                </a:solidFill>
              </a:defRPr>
            </a:pPr>
            <a:r>
              <a:t>Temps Réel WebSocket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Remplacement du polling par Socket.io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Mise à jour instantanée des jauges multi-écrans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Notification push des messages support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Expérience interactive pour les tournois en direct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828800"/>
            <a:ext cx="3383280" cy="4389120"/>
          </a:xfrm>
          <a:prstGeom prst="roundRect">
            <a:avLst/>
          </a:prstGeom>
          <a:solidFill>
            <a:srgbClr val="1C1434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75320" y="2011680"/>
            <a:ext cx="29260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ÉVOLUTION 3</a:t>
            </a:r>
          </a:p>
          <a:p>
            <a:pPr>
              <a:spcAft>
                <a:spcPts val="1200"/>
              </a:spcAft>
              <a:defRPr sz="1800" b="1">
                <a:solidFill>
                  <a:srgbClr val="38BDF8"/>
                </a:solidFill>
              </a:defRPr>
            </a:pPr>
            <a:r>
              <a:t>Application Mobile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Application hybride React Native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Déploiement iOS &amp; Android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Ticket de réservation avec QR Code scannable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Notifications push de début de tournoi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0D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60152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 b="1">
                <a:solidFill>
                  <a:srgbClr val="FFBF00"/>
                </a:solidFill>
              </a:defRPr>
            </a:pPr>
            <a:r>
              <a:t>CONCLUSION</a:t>
            </a:r>
          </a:p>
          <a:p>
            <a:pPr>
              <a:spcAft>
                <a:spcPts val="1000"/>
              </a:spcAft>
              <a:defRPr sz="5000" b="1">
                <a:solidFill>
                  <a:srgbClr val="FFFFFF"/>
                </a:solidFill>
              </a:defRPr>
            </a:pPr>
            <a:r>
              <a:t>Merci pour votre attention !</a:t>
            </a:r>
          </a:p>
          <a:p>
            <a:pPr>
              <a:defRPr sz="2200">
                <a:solidFill>
                  <a:srgbClr val="C084FC"/>
                </a:solidFill>
              </a:defRPr>
            </a:pPr>
            <a:r>
              <a:t>Place aux questions et échanges avec le jury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4206240"/>
            <a:ext cx="4846320" cy="2011680"/>
          </a:xfrm>
          <a:prstGeom prst="roundRect">
            <a:avLst/>
          </a:prstGeom>
          <a:solidFill>
            <a:srgbClr val="1C1434"/>
          </a:solidFill>
          <a:ln w="19050">
            <a:solidFill>
              <a:srgbClr val="FFB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4389120"/>
            <a:ext cx="438912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FBF00"/>
                </a:solidFill>
              </a:defRPr>
            </a:pPr>
            <a:r>
              <a:t>RESSOURCES</a:t>
            </a:r>
          </a:p>
          <a:p>
            <a:pPr>
              <a:spcAft>
                <a:spcPts val="1200"/>
              </a:spcAft>
              <a:defRPr sz="1800" b="1">
                <a:solidFill>
                  <a:srgbClr val="FFBF00"/>
                </a:solidFill>
              </a:defRPr>
            </a:pPr>
            <a:r>
              <a:t>Projet Cicados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Code source complet disponible sur GitHub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Dossier de projet &amp; fiches techniques validés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Démonstration live prête à la demande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4206240"/>
            <a:ext cx="5029200" cy="2011680"/>
          </a:xfrm>
          <a:prstGeom prst="roundRect">
            <a:avLst/>
          </a:prstGeom>
          <a:solidFill>
            <a:srgbClr val="1C1434"/>
          </a:solidFill>
          <a:ln w="1905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4389120"/>
            <a:ext cx="457200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C084FC"/>
                </a:solidFill>
              </a:defRPr>
            </a:pPr>
            <a:r>
              <a:t>CONTACT &amp; ÉCHANGE</a:t>
            </a:r>
          </a:p>
          <a:p>
            <a:pPr>
              <a:spcAft>
                <a:spcPts val="1200"/>
              </a:spcAft>
              <a:defRPr sz="1800" b="1">
                <a:solidFill>
                  <a:srgbClr val="C084FC"/>
                </a:solidFill>
              </a:defRPr>
            </a:pPr>
            <a:r>
              <a:t>Olivier PARRAUD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Candidat Titre Professionnel DWWM 2026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Développeur Fullstack Web &amp; Web Mobile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Établissement La Plateforme — Marseille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